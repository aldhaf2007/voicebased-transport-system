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A2EC99D-0B6E-4738-B41F-B4322F3045A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9256253-E3A8-4FE8-BA54-54AC391E56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15A0719-23F2-4303-8CAC-23DBA2BA33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10B794F-AC36-4038-B0A8-084328D8C5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26F637D-B8D0-4122-BC58-8AE14EF0A2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951433A-A45A-4EC0-B83E-3FFA2F9AFAA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0E53CA5-E52D-453C-95BD-46902DE122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D8AA1A3-11F4-4BF3-B3D4-E2F3532B2A9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5F2F7EC-A6BF-4A8A-93EB-61B12D56148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AFB6DA5-F788-46A0-9C23-852C855322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15EC53A-BBFA-4384-869B-4159633E1DE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8778240" y="0"/>
            <a:ext cx="3410280" cy="6857640"/>
          </a:xfrm>
          <a:prstGeom prst="rect">
            <a:avLst/>
          </a:prstGeom>
          <a:solidFill>
            <a:srgbClr val="11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Rectangle 3"/>
          <p:cNvSpPr/>
          <p:nvPr/>
        </p:nvSpPr>
        <p:spPr>
          <a:xfrm>
            <a:off x="9052560" y="502920"/>
            <a:ext cx="82080" cy="8208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Rectangle 4"/>
          <p:cNvSpPr/>
          <p:nvPr/>
        </p:nvSpPr>
        <p:spPr>
          <a:xfrm>
            <a:off x="9619560" y="502920"/>
            <a:ext cx="82080" cy="8208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" name="Rectangle 5"/>
          <p:cNvSpPr/>
          <p:nvPr/>
        </p:nvSpPr>
        <p:spPr>
          <a:xfrm>
            <a:off x="10186560" y="502920"/>
            <a:ext cx="82080" cy="82080"/>
          </a:xfrm>
          <a:prstGeom prst="rect">
            <a:avLst/>
          </a:prstGeom>
          <a:solidFill>
            <a:srgbClr val="2A3A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Rectangle 6"/>
          <p:cNvSpPr/>
          <p:nvPr/>
        </p:nvSpPr>
        <p:spPr>
          <a:xfrm>
            <a:off x="10753200" y="502920"/>
            <a:ext cx="82080" cy="8208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Rectangle 7"/>
          <p:cNvSpPr/>
          <p:nvPr/>
        </p:nvSpPr>
        <p:spPr>
          <a:xfrm>
            <a:off x="11320200" y="502920"/>
            <a:ext cx="82080" cy="8208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Rectangle 8"/>
          <p:cNvSpPr/>
          <p:nvPr/>
        </p:nvSpPr>
        <p:spPr>
          <a:xfrm>
            <a:off x="9052560" y="1417320"/>
            <a:ext cx="82080" cy="8208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Rectangle 9"/>
          <p:cNvSpPr/>
          <p:nvPr/>
        </p:nvSpPr>
        <p:spPr>
          <a:xfrm>
            <a:off x="9619560" y="1417320"/>
            <a:ext cx="82080" cy="82080"/>
          </a:xfrm>
          <a:prstGeom prst="rect">
            <a:avLst/>
          </a:prstGeom>
          <a:solidFill>
            <a:srgbClr val="2A3A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Rectangle 10"/>
          <p:cNvSpPr/>
          <p:nvPr/>
        </p:nvSpPr>
        <p:spPr>
          <a:xfrm>
            <a:off x="10186560" y="1417320"/>
            <a:ext cx="82080" cy="8208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Rectangle 11"/>
          <p:cNvSpPr/>
          <p:nvPr/>
        </p:nvSpPr>
        <p:spPr>
          <a:xfrm>
            <a:off x="10753200" y="1417320"/>
            <a:ext cx="82080" cy="8208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Rectangle 12"/>
          <p:cNvSpPr/>
          <p:nvPr/>
        </p:nvSpPr>
        <p:spPr>
          <a:xfrm>
            <a:off x="11320200" y="1417320"/>
            <a:ext cx="82080" cy="82080"/>
          </a:xfrm>
          <a:prstGeom prst="rect">
            <a:avLst/>
          </a:prstGeom>
          <a:solidFill>
            <a:srgbClr val="2A3A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Rectangle 13"/>
          <p:cNvSpPr/>
          <p:nvPr/>
        </p:nvSpPr>
        <p:spPr>
          <a:xfrm>
            <a:off x="9052560" y="2331720"/>
            <a:ext cx="82080" cy="82080"/>
          </a:xfrm>
          <a:prstGeom prst="rect">
            <a:avLst/>
          </a:prstGeom>
          <a:solidFill>
            <a:srgbClr val="2A3A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Rectangle 14"/>
          <p:cNvSpPr/>
          <p:nvPr/>
        </p:nvSpPr>
        <p:spPr>
          <a:xfrm>
            <a:off x="9619560" y="2331720"/>
            <a:ext cx="82080" cy="8208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Rectangle 15"/>
          <p:cNvSpPr/>
          <p:nvPr/>
        </p:nvSpPr>
        <p:spPr>
          <a:xfrm>
            <a:off x="10186560" y="2331720"/>
            <a:ext cx="82080" cy="8208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Rectangle 16"/>
          <p:cNvSpPr/>
          <p:nvPr/>
        </p:nvSpPr>
        <p:spPr>
          <a:xfrm>
            <a:off x="10753200" y="2331720"/>
            <a:ext cx="82080" cy="82080"/>
          </a:xfrm>
          <a:prstGeom prst="rect">
            <a:avLst/>
          </a:prstGeom>
          <a:solidFill>
            <a:srgbClr val="2A3A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Rectangle 17"/>
          <p:cNvSpPr/>
          <p:nvPr/>
        </p:nvSpPr>
        <p:spPr>
          <a:xfrm>
            <a:off x="11320200" y="2331720"/>
            <a:ext cx="82080" cy="8208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Rectangle 18"/>
          <p:cNvSpPr/>
          <p:nvPr/>
        </p:nvSpPr>
        <p:spPr>
          <a:xfrm>
            <a:off x="9052560" y="3246120"/>
            <a:ext cx="82080" cy="8208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Rectangle 19"/>
          <p:cNvSpPr/>
          <p:nvPr/>
        </p:nvSpPr>
        <p:spPr>
          <a:xfrm>
            <a:off x="9619560" y="3246120"/>
            <a:ext cx="82080" cy="8208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ectangle 20"/>
          <p:cNvSpPr/>
          <p:nvPr/>
        </p:nvSpPr>
        <p:spPr>
          <a:xfrm>
            <a:off x="10186560" y="3246120"/>
            <a:ext cx="82080" cy="82080"/>
          </a:xfrm>
          <a:prstGeom prst="rect">
            <a:avLst/>
          </a:prstGeom>
          <a:solidFill>
            <a:srgbClr val="2A3A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Rectangle 21"/>
          <p:cNvSpPr/>
          <p:nvPr/>
        </p:nvSpPr>
        <p:spPr>
          <a:xfrm>
            <a:off x="10753200" y="3246120"/>
            <a:ext cx="82080" cy="8208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Rectangle 22"/>
          <p:cNvSpPr/>
          <p:nvPr/>
        </p:nvSpPr>
        <p:spPr>
          <a:xfrm>
            <a:off x="11320200" y="3246120"/>
            <a:ext cx="82080" cy="8208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Rectangle 23"/>
          <p:cNvSpPr/>
          <p:nvPr/>
        </p:nvSpPr>
        <p:spPr>
          <a:xfrm>
            <a:off x="9052560" y="4160520"/>
            <a:ext cx="82080" cy="8208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Rectangle 24"/>
          <p:cNvSpPr/>
          <p:nvPr/>
        </p:nvSpPr>
        <p:spPr>
          <a:xfrm>
            <a:off x="9619560" y="4160520"/>
            <a:ext cx="82080" cy="82080"/>
          </a:xfrm>
          <a:prstGeom prst="rect">
            <a:avLst/>
          </a:prstGeom>
          <a:solidFill>
            <a:srgbClr val="2A3A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Rectangle 25"/>
          <p:cNvSpPr/>
          <p:nvPr/>
        </p:nvSpPr>
        <p:spPr>
          <a:xfrm>
            <a:off x="10186560" y="4160520"/>
            <a:ext cx="82080" cy="8208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Rectangle 26"/>
          <p:cNvSpPr/>
          <p:nvPr/>
        </p:nvSpPr>
        <p:spPr>
          <a:xfrm>
            <a:off x="10753200" y="4160520"/>
            <a:ext cx="82080" cy="8208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Rectangle 27"/>
          <p:cNvSpPr/>
          <p:nvPr/>
        </p:nvSpPr>
        <p:spPr>
          <a:xfrm>
            <a:off x="11320200" y="4160520"/>
            <a:ext cx="82080" cy="82080"/>
          </a:xfrm>
          <a:prstGeom prst="rect">
            <a:avLst/>
          </a:prstGeom>
          <a:solidFill>
            <a:srgbClr val="2A3A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Rectangle 28"/>
          <p:cNvSpPr/>
          <p:nvPr/>
        </p:nvSpPr>
        <p:spPr>
          <a:xfrm>
            <a:off x="9052560" y="5074920"/>
            <a:ext cx="82080" cy="82080"/>
          </a:xfrm>
          <a:prstGeom prst="rect">
            <a:avLst/>
          </a:prstGeom>
          <a:solidFill>
            <a:srgbClr val="2A3A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Rectangle 29"/>
          <p:cNvSpPr/>
          <p:nvPr/>
        </p:nvSpPr>
        <p:spPr>
          <a:xfrm>
            <a:off x="9619560" y="5074920"/>
            <a:ext cx="82080" cy="8208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Rectangle 30"/>
          <p:cNvSpPr/>
          <p:nvPr/>
        </p:nvSpPr>
        <p:spPr>
          <a:xfrm>
            <a:off x="10186560" y="5074920"/>
            <a:ext cx="82080" cy="8208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Rectangle 31"/>
          <p:cNvSpPr/>
          <p:nvPr/>
        </p:nvSpPr>
        <p:spPr>
          <a:xfrm>
            <a:off x="10753200" y="5074920"/>
            <a:ext cx="82080" cy="82080"/>
          </a:xfrm>
          <a:prstGeom prst="rect">
            <a:avLst/>
          </a:prstGeom>
          <a:solidFill>
            <a:srgbClr val="2A3A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Rectangle 32"/>
          <p:cNvSpPr/>
          <p:nvPr/>
        </p:nvSpPr>
        <p:spPr>
          <a:xfrm>
            <a:off x="11320200" y="5074920"/>
            <a:ext cx="82080" cy="8208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Rectangle 33"/>
          <p:cNvSpPr/>
          <p:nvPr/>
        </p:nvSpPr>
        <p:spPr>
          <a:xfrm>
            <a:off x="9052560" y="5989320"/>
            <a:ext cx="82080" cy="8208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9619560" y="5989320"/>
            <a:ext cx="82080" cy="8208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10186560" y="5989320"/>
            <a:ext cx="82080" cy="82080"/>
          </a:xfrm>
          <a:prstGeom prst="rect">
            <a:avLst/>
          </a:prstGeom>
          <a:solidFill>
            <a:srgbClr val="2A3A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0753200" y="5989320"/>
            <a:ext cx="82080" cy="8208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11320200" y="5989320"/>
            <a:ext cx="82080" cy="8208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7440" rIns="90000" bIns="37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73080" y="2880360"/>
            <a:ext cx="8704800" cy="2520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73080" y="2907720"/>
            <a:ext cx="8704800" cy="1332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40"/>
          <p:cNvSpPr/>
          <p:nvPr/>
        </p:nvSpPr>
        <p:spPr>
          <a:xfrm>
            <a:off x="411480" y="594360"/>
            <a:ext cx="164556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🎙️</a:t>
            </a:r>
            <a:endParaRPr lang="en-US" sz="7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41"/>
          <p:cNvSpPr/>
          <p:nvPr/>
        </p:nvSpPr>
        <p:spPr>
          <a:xfrm>
            <a:off x="411480" y="1737360"/>
            <a:ext cx="8229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Voice-Based Transport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42"/>
          <p:cNvSpPr/>
          <p:nvPr/>
        </p:nvSpPr>
        <p:spPr>
          <a:xfrm>
            <a:off x="483480" y="2234520"/>
            <a:ext cx="8229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00E5FF"/>
                </a:solidFill>
                <a:effectLst/>
                <a:uFillTx/>
                <a:latin typeface="Calibri"/>
              </a:rPr>
              <a:t>Gateway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43"/>
          <p:cNvSpPr/>
          <p:nvPr/>
        </p:nvSpPr>
        <p:spPr>
          <a:xfrm>
            <a:off x="411480" y="32187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Offline · AI-Powered · Voice-Controlled Transport Search &amp; Booking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411480" y="3675960"/>
            <a:ext cx="3474360" cy="2268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Box 45"/>
          <p:cNvSpPr/>
          <p:nvPr/>
        </p:nvSpPr>
        <p:spPr>
          <a:xfrm>
            <a:off x="411480" y="37947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D8E4F4"/>
                </a:solidFill>
                <a:effectLst/>
                <a:uFillTx/>
                <a:latin typeface="Calibri"/>
              </a:rPr>
              <a:t>Python · Flask · Neo4j · MySQL · Whisper ASR · Kokoro TTS · spaCy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411480" y="4709160"/>
            <a:ext cx="2011320" cy="40212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411480" y="4709160"/>
            <a:ext cx="2011320" cy="3456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0080" rIns="90000" bIns="-10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48"/>
          <p:cNvSpPr/>
          <p:nvPr/>
        </p:nvSpPr>
        <p:spPr>
          <a:xfrm>
            <a:off x="411480" y="4709160"/>
            <a:ext cx="2011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00E5FF"/>
                </a:solidFill>
                <a:effectLst/>
                <a:uFillTx/>
                <a:latin typeface="Calibri"/>
              </a:rPr>
              <a:t>🖥️  System Design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Rectangle 49"/>
          <p:cNvSpPr/>
          <p:nvPr/>
        </p:nvSpPr>
        <p:spPr>
          <a:xfrm>
            <a:off x="2514600" y="4709160"/>
            <a:ext cx="2011320" cy="40212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Rectangle 50"/>
          <p:cNvSpPr/>
          <p:nvPr/>
        </p:nvSpPr>
        <p:spPr>
          <a:xfrm>
            <a:off x="2514600" y="4709160"/>
            <a:ext cx="2011320" cy="3456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0080" rIns="90000" bIns="-10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51"/>
          <p:cNvSpPr/>
          <p:nvPr/>
        </p:nvSpPr>
        <p:spPr>
          <a:xfrm>
            <a:off x="2514600" y="4709160"/>
            <a:ext cx="2011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A85CFF"/>
                </a:solidFill>
                <a:effectLst/>
                <a:uFillTx/>
                <a:latin typeface="Calibri"/>
              </a:rPr>
              <a:t>🏗️  Architectural Design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Rectangle 52"/>
          <p:cNvSpPr/>
          <p:nvPr/>
        </p:nvSpPr>
        <p:spPr>
          <a:xfrm>
            <a:off x="4617720" y="4709160"/>
            <a:ext cx="2011320" cy="40212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Rectangle 53"/>
          <p:cNvSpPr/>
          <p:nvPr/>
        </p:nvSpPr>
        <p:spPr>
          <a:xfrm>
            <a:off x="4617720" y="4709160"/>
            <a:ext cx="2011320" cy="34560"/>
          </a:xfrm>
          <a:prstGeom prst="rect">
            <a:avLst/>
          </a:prstGeom>
          <a:solidFill>
            <a:srgbClr val="00FF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0080" rIns="90000" bIns="-10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54"/>
          <p:cNvSpPr/>
          <p:nvPr/>
        </p:nvSpPr>
        <p:spPr>
          <a:xfrm>
            <a:off x="4617720" y="4709160"/>
            <a:ext cx="2011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00FFB3"/>
                </a:solidFill>
                <a:effectLst/>
                <a:uFillTx/>
                <a:latin typeface="Calibri"/>
              </a:rPr>
              <a:t>🔄  Data Flow Diagram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Rectangle 55"/>
          <p:cNvSpPr/>
          <p:nvPr/>
        </p:nvSpPr>
        <p:spPr>
          <a:xfrm>
            <a:off x="6720840" y="4709160"/>
            <a:ext cx="2011320" cy="40212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Rectangle 56"/>
          <p:cNvSpPr/>
          <p:nvPr/>
        </p:nvSpPr>
        <p:spPr>
          <a:xfrm>
            <a:off x="6720840" y="4709160"/>
            <a:ext cx="2011320" cy="34560"/>
          </a:xfrm>
          <a:prstGeom prst="rect">
            <a:avLst/>
          </a:prstGeom>
          <a:solidFill>
            <a:srgbClr val="FFC7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0080" rIns="90000" bIns="-10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Box 57"/>
          <p:cNvSpPr/>
          <p:nvPr/>
        </p:nvSpPr>
        <p:spPr>
          <a:xfrm>
            <a:off x="6720840" y="4709160"/>
            <a:ext cx="2011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FFC700"/>
                </a:solidFill>
                <a:effectLst/>
                <a:uFillTx/>
                <a:latin typeface="Calibri"/>
              </a:rPr>
              <a:t>📦  Modules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58"/>
          <p:cNvSpPr/>
          <p:nvPr/>
        </p:nvSpPr>
        <p:spPr>
          <a:xfrm>
            <a:off x="411480" y="6263640"/>
            <a:ext cx="822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2A3A58"/>
                </a:solidFill>
                <a:effectLst/>
                <a:uFillTx/>
                <a:latin typeface="Calibri"/>
              </a:rPr>
              <a:t>B.Tech Final Year Project  ·  Computer Science &amp; Engineering  ·  2026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1"/>
          <p:cNvSpPr/>
          <p:nvPr/>
        </p:nvSpPr>
        <p:spPr>
          <a:xfrm>
            <a:off x="0" y="0"/>
            <a:ext cx="6098760" cy="5004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00" rIns="90000" bIns="5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Rectangle 2"/>
          <p:cNvSpPr/>
          <p:nvPr/>
        </p:nvSpPr>
        <p:spPr>
          <a:xfrm>
            <a:off x="6099120" y="0"/>
            <a:ext cx="6089400" cy="5004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00" rIns="90000" bIns="5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Rectangle 3"/>
          <p:cNvSpPr/>
          <p:nvPr/>
        </p:nvSpPr>
        <p:spPr>
          <a:xfrm>
            <a:off x="411480" y="109800"/>
            <a:ext cx="54360" cy="23724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Box 4"/>
          <p:cNvSpPr/>
          <p:nvPr/>
        </p:nvSpPr>
        <p:spPr>
          <a:xfrm>
            <a:off x="411480" y="109800"/>
            <a:ext cx="3200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E5FF"/>
                </a:solidFill>
                <a:effectLst/>
                <a:uFillTx/>
                <a:latin typeface="Calibri"/>
              </a:rPr>
              <a:t>  SYSTEM DESIGN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411480" y="4388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System Design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6"/>
          <p:cNvSpPr/>
          <p:nvPr/>
        </p:nvSpPr>
        <p:spPr>
          <a:xfrm>
            <a:off x="411480" y="1188720"/>
            <a:ext cx="11365560" cy="22680"/>
          </a:xfrm>
          <a:prstGeom prst="rect">
            <a:avLst/>
          </a:prstGeom>
          <a:solidFill>
            <a:srgbClr val="2A3A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Rectangle 7"/>
          <p:cNvSpPr/>
          <p:nvPr/>
        </p:nvSpPr>
        <p:spPr>
          <a:xfrm>
            <a:off x="411480" y="1188720"/>
            <a:ext cx="2011320" cy="2268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8"/>
          <p:cNvSpPr/>
          <p:nvPr/>
        </p:nvSpPr>
        <p:spPr>
          <a:xfrm>
            <a:off x="411480" y="126180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Key system characteristics &amp; technology stack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Rectangle 9"/>
          <p:cNvSpPr/>
          <p:nvPr/>
        </p:nvSpPr>
        <p:spPr>
          <a:xfrm>
            <a:off x="384120" y="1691640"/>
            <a:ext cx="2285640" cy="210276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Rectangle 10"/>
          <p:cNvSpPr/>
          <p:nvPr/>
        </p:nvSpPr>
        <p:spPr>
          <a:xfrm>
            <a:off x="384120" y="1691640"/>
            <a:ext cx="2285640" cy="3636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11"/>
          <p:cNvSpPr/>
          <p:nvPr/>
        </p:nvSpPr>
        <p:spPr>
          <a:xfrm>
            <a:off x="493920" y="1801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🎤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2"/>
          <p:cNvSpPr/>
          <p:nvPr/>
        </p:nvSpPr>
        <p:spPr>
          <a:xfrm>
            <a:off x="493920" y="2331720"/>
            <a:ext cx="20570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E5FF"/>
                </a:solidFill>
                <a:effectLst/>
                <a:uFillTx/>
                <a:latin typeface="Calibri"/>
              </a:rPr>
              <a:t>Offline ASR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3"/>
          <p:cNvSpPr/>
          <p:nvPr/>
        </p:nvSpPr>
        <p:spPr>
          <a:xfrm>
            <a:off x="493920" y="2679120"/>
            <a:ext cx="20570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05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Whisper Tiny model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runs 100% on-device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Rectangle 14"/>
          <p:cNvSpPr/>
          <p:nvPr/>
        </p:nvSpPr>
        <p:spPr>
          <a:xfrm>
            <a:off x="2816280" y="1691640"/>
            <a:ext cx="2285640" cy="210276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Rectangle 15"/>
          <p:cNvSpPr/>
          <p:nvPr/>
        </p:nvSpPr>
        <p:spPr>
          <a:xfrm>
            <a:off x="2816280" y="1691640"/>
            <a:ext cx="2285640" cy="3636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TextBox 16"/>
          <p:cNvSpPr/>
          <p:nvPr/>
        </p:nvSpPr>
        <p:spPr>
          <a:xfrm>
            <a:off x="2926080" y="1801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🧠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17"/>
          <p:cNvSpPr/>
          <p:nvPr/>
        </p:nvSpPr>
        <p:spPr>
          <a:xfrm>
            <a:off x="2926080" y="2331720"/>
            <a:ext cx="20570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A85CFF"/>
                </a:solidFill>
                <a:effectLst/>
                <a:uFillTx/>
                <a:latin typeface="Calibri"/>
              </a:rPr>
              <a:t>NLP 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18"/>
          <p:cNvSpPr/>
          <p:nvPr/>
        </p:nvSpPr>
        <p:spPr>
          <a:xfrm>
            <a:off x="2926080" y="2679120"/>
            <a:ext cx="20570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05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spaCy + RapidFuzz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5-stage extraction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19"/>
          <p:cNvSpPr/>
          <p:nvPr/>
        </p:nvSpPr>
        <p:spPr>
          <a:xfrm>
            <a:off x="5248800" y="1691640"/>
            <a:ext cx="2285640" cy="210276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Rectangle 20"/>
          <p:cNvSpPr/>
          <p:nvPr/>
        </p:nvSpPr>
        <p:spPr>
          <a:xfrm>
            <a:off x="5248800" y="1691640"/>
            <a:ext cx="2285640" cy="36360"/>
          </a:xfrm>
          <a:prstGeom prst="rect">
            <a:avLst/>
          </a:prstGeom>
          <a:solidFill>
            <a:srgbClr val="00FF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21"/>
          <p:cNvSpPr/>
          <p:nvPr/>
        </p:nvSpPr>
        <p:spPr>
          <a:xfrm>
            <a:off x="5358240" y="1801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🗄️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22"/>
          <p:cNvSpPr/>
          <p:nvPr/>
        </p:nvSpPr>
        <p:spPr>
          <a:xfrm>
            <a:off x="5358240" y="2331720"/>
            <a:ext cx="20570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FFB3"/>
                </a:solidFill>
                <a:effectLst/>
                <a:uFillTx/>
                <a:latin typeface="Calibri"/>
              </a:rPr>
              <a:t>Polyglot Database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23"/>
          <p:cNvSpPr/>
          <p:nvPr/>
        </p:nvSpPr>
        <p:spPr>
          <a:xfrm>
            <a:off x="5358240" y="2679120"/>
            <a:ext cx="20570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05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Neo4j graph +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MySQL relational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Rectangle 24"/>
          <p:cNvSpPr/>
          <p:nvPr/>
        </p:nvSpPr>
        <p:spPr>
          <a:xfrm>
            <a:off x="384120" y="3950280"/>
            <a:ext cx="2285640" cy="210276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" name="Rectangle 25"/>
          <p:cNvSpPr/>
          <p:nvPr/>
        </p:nvSpPr>
        <p:spPr>
          <a:xfrm>
            <a:off x="384120" y="3950280"/>
            <a:ext cx="2285640" cy="36360"/>
          </a:xfrm>
          <a:prstGeom prst="rect">
            <a:avLst/>
          </a:prstGeom>
          <a:solidFill>
            <a:srgbClr val="FFC7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TextBox 26"/>
          <p:cNvSpPr/>
          <p:nvPr/>
        </p:nvSpPr>
        <p:spPr>
          <a:xfrm>
            <a:off x="493920" y="4060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🔊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27"/>
          <p:cNvSpPr/>
          <p:nvPr/>
        </p:nvSpPr>
        <p:spPr>
          <a:xfrm>
            <a:off x="493920" y="4590360"/>
            <a:ext cx="20570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C700"/>
                </a:solidFill>
                <a:effectLst/>
                <a:uFillTx/>
                <a:latin typeface="Calibri"/>
              </a:rPr>
              <a:t>Offline TTS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28"/>
          <p:cNvSpPr/>
          <p:nvPr/>
        </p:nvSpPr>
        <p:spPr>
          <a:xfrm>
            <a:off x="493920" y="4937760"/>
            <a:ext cx="20570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05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Kokoro-82M ONNX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speaks results aloud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Rectangle 29"/>
          <p:cNvSpPr/>
          <p:nvPr/>
        </p:nvSpPr>
        <p:spPr>
          <a:xfrm>
            <a:off x="2816280" y="3950280"/>
            <a:ext cx="2285640" cy="210276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Rectangle 30"/>
          <p:cNvSpPr/>
          <p:nvPr/>
        </p:nvSpPr>
        <p:spPr>
          <a:xfrm>
            <a:off x="2816280" y="3950280"/>
            <a:ext cx="2285640" cy="3636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TextBox 31"/>
          <p:cNvSpPr/>
          <p:nvPr/>
        </p:nvSpPr>
        <p:spPr>
          <a:xfrm>
            <a:off x="2926080" y="4060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🎟️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32"/>
          <p:cNvSpPr/>
          <p:nvPr/>
        </p:nvSpPr>
        <p:spPr>
          <a:xfrm>
            <a:off x="2926080" y="4590360"/>
            <a:ext cx="20570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E5FF"/>
                </a:solidFill>
                <a:effectLst/>
                <a:uFillTx/>
                <a:latin typeface="Calibri"/>
              </a:rPr>
              <a:t>Ticket Booking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33"/>
          <p:cNvSpPr/>
          <p:nvPr/>
        </p:nvSpPr>
        <p:spPr>
          <a:xfrm>
            <a:off x="2926080" y="4937760"/>
            <a:ext cx="20570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05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Atomic transactions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&amp; seat locking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Rectangle 34"/>
          <p:cNvSpPr/>
          <p:nvPr/>
        </p:nvSpPr>
        <p:spPr>
          <a:xfrm>
            <a:off x="5248800" y="3950280"/>
            <a:ext cx="2285640" cy="210276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3" name="Rectangle 35"/>
          <p:cNvSpPr/>
          <p:nvPr/>
        </p:nvSpPr>
        <p:spPr>
          <a:xfrm>
            <a:off x="5248800" y="3950280"/>
            <a:ext cx="2285640" cy="3636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36"/>
          <p:cNvSpPr/>
          <p:nvPr/>
        </p:nvSpPr>
        <p:spPr>
          <a:xfrm>
            <a:off x="5358240" y="4060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🔐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37"/>
          <p:cNvSpPr/>
          <p:nvPr/>
        </p:nvSpPr>
        <p:spPr>
          <a:xfrm>
            <a:off x="5358240" y="4590360"/>
            <a:ext cx="20570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A85CFF"/>
                </a:solidFill>
                <a:effectLst/>
                <a:uFillTx/>
                <a:latin typeface="Calibri"/>
              </a:rPr>
              <a:t>Secure Auth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38"/>
          <p:cNvSpPr/>
          <p:nvPr/>
        </p:nvSpPr>
        <p:spPr>
          <a:xfrm>
            <a:off x="5358240" y="4937760"/>
            <a:ext cx="20570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05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bcrypt hashing +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session management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39"/>
          <p:cNvSpPr/>
          <p:nvPr/>
        </p:nvSpPr>
        <p:spPr>
          <a:xfrm>
            <a:off x="7863840" y="1691640"/>
            <a:ext cx="4114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Tech Stack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Rectangle 40"/>
          <p:cNvSpPr/>
          <p:nvPr/>
        </p:nvSpPr>
        <p:spPr>
          <a:xfrm>
            <a:off x="7863840" y="2057400"/>
            <a:ext cx="4068720" cy="22680"/>
          </a:xfrm>
          <a:prstGeom prst="rect">
            <a:avLst/>
          </a:prstGeom>
          <a:solidFill>
            <a:srgbClr val="2A3A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Rectangle 41"/>
          <p:cNvSpPr/>
          <p:nvPr/>
        </p:nvSpPr>
        <p:spPr>
          <a:xfrm>
            <a:off x="7863840" y="2176200"/>
            <a:ext cx="4068720" cy="52992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Rectangle 42"/>
          <p:cNvSpPr/>
          <p:nvPr/>
        </p:nvSpPr>
        <p:spPr>
          <a:xfrm>
            <a:off x="7863840" y="2176200"/>
            <a:ext cx="54360" cy="52992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" name="TextBox 43"/>
          <p:cNvSpPr/>
          <p:nvPr/>
        </p:nvSpPr>
        <p:spPr>
          <a:xfrm>
            <a:off x="8001000" y="2240280"/>
            <a:ext cx="1371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0E5FF"/>
                </a:solidFill>
                <a:effectLst/>
                <a:uFillTx/>
                <a:latin typeface="Calibri"/>
              </a:rPr>
              <a:t>Backend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44"/>
          <p:cNvSpPr/>
          <p:nvPr/>
        </p:nvSpPr>
        <p:spPr>
          <a:xfrm>
            <a:off x="8001000" y="2441520"/>
            <a:ext cx="37944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Python 3  ·  Flask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45"/>
          <p:cNvSpPr/>
          <p:nvPr/>
        </p:nvSpPr>
        <p:spPr>
          <a:xfrm>
            <a:off x="7863840" y="2779920"/>
            <a:ext cx="4068720" cy="52992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Rectangle 46"/>
          <p:cNvSpPr/>
          <p:nvPr/>
        </p:nvSpPr>
        <p:spPr>
          <a:xfrm>
            <a:off x="7863840" y="2779920"/>
            <a:ext cx="54360" cy="52992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47"/>
          <p:cNvSpPr/>
          <p:nvPr/>
        </p:nvSpPr>
        <p:spPr>
          <a:xfrm>
            <a:off x="8001000" y="2843640"/>
            <a:ext cx="1371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85CFF"/>
                </a:solidFill>
                <a:effectLst/>
                <a:uFillTx/>
                <a:latin typeface="Calibri"/>
              </a:rPr>
              <a:t>AI / Speech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48"/>
          <p:cNvSpPr/>
          <p:nvPr/>
        </p:nvSpPr>
        <p:spPr>
          <a:xfrm>
            <a:off x="8001000" y="3044880"/>
            <a:ext cx="37944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Whisper ASR  ·  Kokoro TTS  ·  ONNX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Rectangle 49"/>
          <p:cNvSpPr/>
          <p:nvPr/>
        </p:nvSpPr>
        <p:spPr>
          <a:xfrm>
            <a:off x="7863840" y="3383280"/>
            <a:ext cx="4068720" cy="52992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Rectangle 50"/>
          <p:cNvSpPr/>
          <p:nvPr/>
        </p:nvSpPr>
        <p:spPr>
          <a:xfrm>
            <a:off x="7863840" y="3383280"/>
            <a:ext cx="54360" cy="529920"/>
          </a:xfrm>
          <a:prstGeom prst="rect">
            <a:avLst/>
          </a:prstGeom>
          <a:solidFill>
            <a:srgbClr val="00FF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51"/>
          <p:cNvSpPr/>
          <p:nvPr/>
        </p:nvSpPr>
        <p:spPr>
          <a:xfrm>
            <a:off x="8001000" y="3447360"/>
            <a:ext cx="1371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0FFB3"/>
                </a:solidFill>
                <a:effectLst/>
                <a:uFillTx/>
                <a:latin typeface="Calibri"/>
              </a:rPr>
              <a:t>NLP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52"/>
          <p:cNvSpPr/>
          <p:nvPr/>
        </p:nvSpPr>
        <p:spPr>
          <a:xfrm>
            <a:off x="8001000" y="3648600"/>
            <a:ext cx="37944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spaCy  ·  RapidFuzz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53"/>
          <p:cNvSpPr/>
          <p:nvPr/>
        </p:nvSpPr>
        <p:spPr>
          <a:xfrm>
            <a:off x="7863840" y="3986640"/>
            <a:ext cx="4068720" cy="52992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ectangle 54"/>
          <p:cNvSpPr/>
          <p:nvPr/>
        </p:nvSpPr>
        <p:spPr>
          <a:xfrm>
            <a:off x="7863840" y="3986640"/>
            <a:ext cx="54360" cy="529920"/>
          </a:xfrm>
          <a:prstGeom prst="rect">
            <a:avLst/>
          </a:prstGeom>
          <a:solidFill>
            <a:srgbClr val="FFC7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Box 55"/>
          <p:cNvSpPr/>
          <p:nvPr/>
        </p:nvSpPr>
        <p:spPr>
          <a:xfrm>
            <a:off x="8001000" y="4050720"/>
            <a:ext cx="1371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C700"/>
                </a:solidFill>
                <a:effectLst/>
                <a:uFillTx/>
                <a:latin typeface="Calibri"/>
              </a:rPr>
              <a:t>Databases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56"/>
          <p:cNvSpPr/>
          <p:nvPr/>
        </p:nvSpPr>
        <p:spPr>
          <a:xfrm>
            <a:off x="8001000" y="4251960"/>
            <a:ext cx="37944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Neo4j  ·  MySQL 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Rectangle 57"/>
          <p:cNvSpPr/>
          <p:nvPr/>
        </p:nvSpPr>
        <p:spPr>
          <a:xfrm>
            <a:off x="7863840" y="4590360"/>
            <a:ext cx="4068720" cy="52992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Rectangle 58"/>
          <p:cNvSpPr/>
          <p:nvPr/>
        </p:nvSpPr>
        <p:spPr>
          <a:xfrm>
            <a:off x="7863840" y="4590360"/>
            <a:ext cx="54360" cy="52992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59"/>
          <p:cNvSpPr/>
          <p:nvPr/>
        </p:nvSpPr>
        <p:spPr>
          <a:xfrm>
            <a:off x="8001000" y="4654440"/>
            <a:ext cx="1371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0E5FF"/>
                </a:solidFill>
                <a:effectLst/>
                <a:uFillTx/>
                <a:latin typeface="Calibri"/>
              </a:rPr>
              <a:t>Frontend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60"/>
          <p:cNvSpPr/>
          <p:nvPr/>
        </p:nvSpPr>
        <p:spPr>
          <a:xfrm>
            <a:off x="8001000" y="4855320"/>
            <a:ext cx="37944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HTML5  ·  CSS3  ·  JS  ·  PWA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 61"/>
          <p:cNvSpPr/>
          <p:nvPr/>
        </p:nvSpPr>
        <p:spPr>
          <a:xfrm>
            <a:off x="7863840" y="5193720"/>
            <a:ext cx="4068720" cy="52992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Rectangle 62"/>
          <p:cNvSpPr/>
          <p:nvPr/>
        </p:nvSpPr>
        <p:spPr>
          <a:xfrm>
            <a:off x="7863840" y="5193720"/>
            <a:ext cx="54360" cy="52992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63"/>
          <p:cNvSpPr/>
          <p:nvPr/>
        </p:nvSpPr>
        <p:spPr>
          <a:xfrm>
            <a:off x="8001000" y="5257800"/>
            <a:ext cx="1371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A85CFF"/>
                </a:solidFill>
                <a:effectLst/>
                <a:uFillTx/>
                <a:latin typeface="Calibri"/>
              </a:rPr>
              <a:t>Security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64"/>
          <p:cNvSpPr/>
          <p:nvPr/>
        </p:nvSpPr>
        <p:spPr>
          <a:xfrm>
            <a:off x="8001000" y="5459040"/>
            <a:ext cx="37944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bcrypt  ·  Parameterised 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65"/>
          <p:cNvSpPr/>
          <p:nvPr/>
        </p:nvSpPr>
        <p:spPr>
          <a:xfrm>
            <a:off x="7863840" y="5797440"/>
            <a:ext cx="4068720" cy="52992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Rectangle 66"/>
          <p:cNvSpPr/>
          <p:nvPr/>
        </p:nvSpPr>
        <p:spPr>
          <a:xfrm>
            <a:off x="7863840" y="5797440"/>
            <a:ext cx="54360" cy="529920"/>
          </a:xfrm>
          <a:prstGeom prst="rect">
            <a:avLst/>
          </a:prstGeom>
          <a:solidFill>
            <a:srgbClr val="00FF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67"/>
          <p:cNvSpPr/>
          <p:nvPr/>
        </p:nvSpPr>
        <p:spPr>
          <a:xfrm>
            <a:off x="8001000" y="5861160"/>
            <a:ext cx="1371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0FFB3"/>
                </a:solidFill>
                <a:effectLst/>
                <a:uFillTx/>
                <a:latin typeface="Calibri"/>
              </a:rPr>
              <a:t>Testing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68"/>
          <p:cNvSpPr/>
          <p:nvPr/>
        </p:nvSpPr>
        <p:spPr>
          <a:xfrm>
            <a:off x="8001000" y="6062400"/>
            <a:ext cx="37944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unittest  ·  mock patching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Rectangle 1"/>
          <p:cNvSpPr/>
          <p:nvPr/>
        </p:nvSpPr>
        <p:spPr>
          <a:xfrm>
            <a:off x="0" y="0"/>
            <a:ext cx="6098760" cy="5004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00" rIns="90000" bIns="5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Rectangle 2"/>
          <p:cNvSpPr/>
          <p:nvPr/>
        </p:nvSpPr>
        <p:spPr>
          <a:xfrm>
            <a:off x="6099120" y="0"/>
            <a:ext cx="6089400" cy="5004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00" rIns="90000" bIns="5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Rectangle 3"/>
          <p:cNvSpPr/>
          <p:nvPr/>
        </p:nvSpPr>
        <p:spPr>
          <a:xfrm>
            <a:off x="411480" y="109800"/>
            <a:ext cx="54360" cy="23724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TextBox 4"/>
          <p:cNvSpPr/>
          <p:nvPr/>
        </p:nvSpPr>
        <p:spPr>
          <a:xfrm>
            <a:off x="411480" y="109800"/>
            <a:ext cx="3200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A85CFF"/>
                </a:solidFill>
                <a:effectLst/>
                <a:uFillTx/>
                <a:latin typeface="Calibri"/>
              </a:rPr>
              <a:t>  ARCHITECTURAL DESIGN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5"/>
          <p:cNvSpPr/>
          <p:nvPr/>
        </p:nvSpPr>
        <p:spPr>
          <a:xfrm>
            <a:off x="411480" y="4388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Architectural Design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Rectangle 6"/>
          <p:cNvSpPr/>
          <p:nvPr/>
        </p:nvSpPr>
        <p:spPr>
          <a:xfrm>
            <a:off x="411480" y="1188720"/>
            <a:ext cx="11365560" cy="22680"/>
          </a:xfrm>
          <a:prstGeom prst="rect">
            <a:avLst/>
          </a:prstGeom>
          <a:solidFill>
            <a:srgbClr val="2A3A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Rectangle 7"/>
          <p:cNvSpPr/>
          <p:nvPr/>
        </p:nvSpPr>
        <p:spPr>
          <a:xfrm>
            <a:off x="411480" y="1188720"/>
            <a:ext cx="2011320" cy="2268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Box 8"/>
          <p:cNvSpPr/>
          <p:nvPr/>
        </p:nvSpPr>
        <p:spPr>
          <a:xfrm>
            <a:off x="411480" y="1261800"/>
            <a:ext cx="9143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Four-tier layered architecture — all running on a single host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Rectangle 9"/>
          <p:cNvSpPr/>
          <p:nvPr/>
        </p:nvSpPr>
        <p:spPr>
          <a:xfrm>
            <a:off x="384120" y="1691640"/>
            <a:ext cx="11420640" cy="95976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Rectangle 10"/>
          <p:cNvSpPr/>
          <p:nvPr/>
        </p:nvSpPr>
        <p:spPr>
          <a:xfrm>
            <a:off x="384120" y="1691640"/>
            <a:ext cx="11420640" cy="3636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" name="Rectangle 11"/>
          <p:cNvSpPr/>
          <p:nvPr/>
        </p:nvSpPr>
        <p:spPr>
          <a:xfrm>
            <a:off x="384120" y="1691640"/>
            <a:ext cx="63720" cy="95976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Box 12"/>
          <p:cNvSpPr/>
          <p:nvPr/>
        </p:nvSpPr>
        <p:spPr>
          <a:xfrm>
            <a:off x="594360" y="1728360"/>
            <a:ext cx="3200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TIER 1  —  Presentation Layer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13"/>
          <p:cNvSpPr/>
          <p:nvPr/>
        </p:nvSpPr>
        <p:spPr>
          <a:xfrm>
            <a:off x="594360" y="2011680"/>
            <a:ext cx="47545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E5FF"/>
                </a:solidFill>
                <a:effectLst/>
                <a:uFillTx/>
                <a:latin typeface="Calibri"/>
              </a:rPr>
              <a:t>🌐  Web Browser  (PWA)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14"/>
          <p:cNvSpPr/>
          <p:nvPr/>
        </p:nvSpPr>
        <p:spPr>
          <a:xfrm>
            <a:off x="5669280" y="1965960"/>
            <a:ext cx="60346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D8E4F4"/>
                </a:solidFill>
                <a:effectLst/>
                <a:uFillTx/>
                <a:latin typeface="Calibri"/>
              </a:rPr>
              <a:t>HTML5 · CSS3 · Vanilla JS · Web Audio API · Service Worker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15"/>
          <p:cNvSpPr/>
          <p:nvPr/>
        </p:nvSpPr>
        <p:spPr>
          <a:xfrm>
            <a:off x="5897880" y="265176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2A3A58"/>
                </a:solidFill>
                <a:effectLst/>
                <a:uFillTx/>
                <a:latin typeface="Calibri"/>
              </a:rPr>
              <a:t>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Rectangle 16"/>
          <p:cNvSpPr/>
          <p:nvPr/>
        </p:nvSpPr>
        <p:spPr>
          <a:xfrm>
            <a:off x="384120" y="2880360"/>
            <a:ext cx="11420640" cy="95976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Rectangle 17"/>
          <p:cNvSpPr/>
          <p:nvPr/>
        </p:nvSpPr>
        <p:spPr>
          <a:xfrm>
            <a:off x="384120" y="2880360"/>
            <a:ext cx="11420640" cy="3636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Rectangle 18"/>
          <p:cNvSpPr/>
          <p:nvPr/>
        </p:nvSpPr>
        <p:spPr>
          <a:xfrm>
            <a:off x="384120" y="2880360"/>
            <a:ext cx="63720" cy="95976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TextBox 19"/>
          <p:cNvSpPr/>
          <p:nvPr/>
        </p:nvSpPr>
        <p:spPr>
          <a:xfrm>
            <a:off x="594360" y="2917080"/>
            <a:ext cx="3200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TIER 2  —  Application Layer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20"/>
          <p:cNvSpPr/>
          <p:nvPr/>
        </p:nvSpPr>
        <p:spPr>
          <a:xfrm>
            <a:off x="594360" y="3200400"/>
            <a:ext cx="47545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A85CFF"/>
                </a:solidFill>
                <a:effectLst/>
                <a:uFillTx/>
                <a:latin typeface="Calibri"/>
              </a:rPr>
              <a:t>⚙️  Flask Server  :5000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21"/>
          <p:cNvSpPr/>
          <p:nvPr/>
        </p:nvSpPr>
        <p:spPr>
          <a:xfrm>
            <a:off x="5669280" y="3154680"/>
            <a:ext cx="60346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D8E4F4"/>
                </a:solidFill>
                <a:effectLst/>
                <a:uFillTx/>
                <a:latin typeface="Calibri"/>
              </a:rPr>
              <a:t>REST API · Whisper ASR · spaCy NLP · RapidFuzz · Kokoro TTS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22"/>
          <p:cNvSpPr/>
          <p:nvPr/>
        </p:nvSpPr>
        <p:spPr>
          <a:xfrm>
            <a:off x="5897880" y="384048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2A3A58"/>
                </a:solidFill>
                <a:effectLst/>
                <a:uFillTx/>
                <a:latin typeface="Calibri"/>
              </a:rPr>
              <a:t>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Rectangle 23"/>
          <p:cNvSpPr/>
          <p:nvPr/>
        </p:nvSpPr>
        <p:spPr>
          <a:xfrm>
            <a:off x="384120" y="4069080"/>
            <a:ext cx="11420640" cy="95976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Rectangle 24"/>
          <p:cNvSpPr/>
          <p:nvPr/>
        </p:nvSpPr>
        <p:spPr>
          <a:xfrm>
            <a:off x="384120" y="4069080"/>
            <a:ext cx="11420640" cy="36360"/>
          </a:xfrm>
          <a:prstGeom prst="rect">
            <a:avLst/>
          </a:prstGeom>
          <a:solidFill>
            <a:srgbClr val="00FF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Rectangle 25"/>
          <p:cNvSpPr/>
          <p:nvPr/>
        </p:nvSpPr>
        <p:spPr>
          <a:xfrm>
            <a:off x="384120" y="4069080"/>
            <a:ext cx="63720" cy="959760"/>
          </a:xfrm>
          <a:prstGeom prst="rect">
            <a:avLst/>
          </a:prstGeom>
          <a:solidFill>
            <a:srgbClr val="00FF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" name="TextBox 26"/>
          <p:cNvSpPr/>
          <p:nvPr/>
        </p:nvSpPr>
        <p:spPr>
          <a:xfrm>
            <a:off x="594360" y="4105800"/>
            <a:ext cx="3200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TIER 3  —  Data Layer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27"/>
          <p:cNvSpPr/>
          <p:nvPr/>
        </p:nvSpPr>
        <p:spPr>
          <a:xfrm>
            <a:off x="594360" y="4389120"/>
            <a:ext cx="47545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FFB3"/>
                </a:solidFill>
                <a:effectLst/>
                <a:uFillTx/>
                <a:latin typeface="Calibri"/>
              </a:rPr>
              <a:t>🗄️  Neo4j  :7687   +   MySQL  :3306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28"/>
          <p:cNvSpPr/>
          <p:nvPr/>
        </p:nvSpPr>
        <p:spPr>
          <a:xfrm>
            <a:off x="5669280" y="4343400"/>
            <a:ext cx="60346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D8E4F4"/>
                </a:solidFill>
                <a:effectLst/>
                <a:uFillTx/>
                <a:latin typeface="Calibri"/>
              </a:rPr>
              <a:t>Graph station topology (Neo4j)   ·   Schedules, Bookings, Users (MySQL)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29"/>
          <p:cNvSpPr/>
          <p:nvPr/>
        </p:nvSpPr>
        <p:spPr>
          <a:xfrm>
            <a:off x="5897880" y="502920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2A3A58"/>
                </a:solidFill>
                <a:effectLst/>
                <a:uFillTx/>
                <a:latin typeface="Calibri"/>
              </a:rPr>
              <a:t>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Rectangle 30"/>
          <p:cNvSpPr/>
          <p:nvPr/>
        </p:nvSpPr>
        <p:spPr>
          <a:xfrm>
            <a:off x="384120" y="5257800"/>
            <a:ext cx="11420640" cy="95976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Rectangle 31"/>
          <p:cNvSpPr/>
          <p:nvPr/>
        </p:nvSpPr>
        <p:spPr>
          <a:xfrm>
            <a:off x="384120" y="5257800"/>
            <a:ext cx="11420640" cy="36360"/>
          </a:xfrm>
          <a:prstGeom prst="rect">
            <a:avLst/>
          </a:prstGeom>
          <a:solidFill>
            <a:srgbClr val="FFC7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Rectangle 32"/>
          <p:cNvSpPr/>
          <p:nvPr/>
        </p:nvSpPr>
        <p:spPr>
          <a:xfrm>
            <a:off x="384120" y="5257800"/>
            <a:ext cx="63720" cy="959760"/>
          </a:xfrm>
          <a:prstGeom prst="rect">
            <a:avLst/>
          </a:prstGeom>
          <a:solidFill>
            <a:srgbClr val="FFC7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TextBox 33"/>
          <p:cNvSpPr/>
          <p:nvPr/>
        </p:nvSpPr>
        <p:spPr>
          <a:xfrm>
            <a:off x="594360" y="5294520"/>
            <a:ext cx="3200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TIER 4  —  AI / ML Layer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34"/>
          <p:cNvSpPr/>
          <p:nvPr/>
        </p:nvSpPr>
        <p:spPr>
          <a:xfrm>
            <a:off x="594360" y="5577840"/>
            <a:ext cx="47545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C700"/>
                </a:solidFill>
                <a:effectLst/>
                <a:uFillTx/>
                <a:latin typeface="Calibri"/>
              </a:rPr>
              <a:t>🤖  Offline ML Models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35"/>
          <p:cNvSpPr/>
          <p:nvPr/>
        </p:nvSpPr>
        <p:spPr>
          <a:xfrm>
            <a:off x="5669280" y="5532120"/>
            <a:ext cx="60346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D8E4F4"/>
                </a:solidFill>
                <a:effectLst/>
                <a:uFillTx/>
                <a:latin typeface="Calibri"/>
              </a:rPr>
              <a:t>Whisper Tiny (~150 MB)   ·   Kokoro-82M ONNX (~310 MB)   ·   spaCy (~12 MB)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Rectangle 36"/>
          <p:cNvSpPr/>
          <p:nvPr/>
        </p:nvSpPr>
        <p:spPr>
          <a:xfrm>
            <a:off x="384120" y="6473880"/>
            <a:ext cx="11420640" cy="292320"/>
          </a:xfrm>
          <a:prstGeom prst="rect">
            <a:avLst/>
          </a:prstGeom>
          <a:solidFill>
            <a:srgbClr val="100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Rectangle 37"/>
          <p:cNvSpPr/>
          <p:nvPr/>
        </p:nvSpPr>
        <p:spPr>
          <a:xfrm>
            <a:off x="384120" y="6473880"/>
            <a:ext cx="54360" cy="29232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4" name="TextBox 38"/>
          <p:cNvSpPr/>
          <p:nvPr/>
        </p:nvSpPr>
        <p:spPr>
          <a:xfrm>
            <a:off x="457200" y="6492240"/>
            <a:ext cx="11246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  Browser ↔ Flask via HTTP/REST   ·   Flask ↔ Neo4j via Bolt   ·   Flask ↔ MySQL via TCP   ·   ML models run in-process (no network hop)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Rectangle 1"/>
          <p:cNvSpPr/>
          <p:nvPr/>
        </p:nvSpPr>
        <p:spPr>
          <a:xfrm>
            <a:off x="0" y="0"/>
            <a:ext cx="6098760" cy="50040"/>
          </a:xfrm>
          <a:prstGeom prst="rect">
            <a:avLst/>
          </a:prstGeom>
          <a:solidFill>
            <a:srgbClr val="00FF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00" rIns="90000" bIns="5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Rectangle 2"/>
          <p:cNvSpPr/>
          <p:nvPr/>
        </p:nvSpPr>
        <p:spPr>
          <a:xfrm>
            <a:off x="6099120" y="0"/>
            <a:ext cx="6089400" cy="50040"/>
          </a:xfrm>
          <a:prstGeom prst="rect">
            <a:avLst/>
          </a:prstGeom>
          <a:solidFill>
            <a:srgbClr val="00FF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00" rIns="90000" bIns="5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7" name="Rectangle 3"/>
          <p:cNvSpPr/>
          <p:nvPr/>
        </p:nvSpPr>
        <p:spPr>
          <a:xfrm>
            <a:off x="411480" y="109800"/>
            <a:ext cx="54360" cy="237240"/>
          </a:xfrm>
          <a:prstGeom prst="rect">
            <a:avLst/>
          </a:prstGeom>
          <a:solidFill>
            <a:srgbClr val="00FF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TextBox 4"/>
          <p:cNvSpPr/>
          <p:nvPr/>
        </p:nvSpPr>
        <p:spPr>
          <a:xfrm>
            <a:off x="411480" y="109800"/>
            <a:ext cx="3200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FFB3"/>
                </a:solidFill>
                <a:effectLst/>
                <a:uFillTx/>
                <a:latin typeface="Calibri"/>
              </a:rPr>
              <a:t>  DATA FLOW DIAGRAM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5"/>
          <p:cNvSpPr/>
          <p:nvPr/>
        </p:nvSpPr>
        <p:spPr>
          <a:xfrm>
            <a:off x="411480" y="4388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High-Level System Flow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6"/>
          <p:cNvSpPr/>
          <p:nvPr/>
        </p:nvSpPr>
        <p:spPr>
          <a:xfrm>
            <a:off x="411480" y="1188720"/>
            <a:ext cx="11365560" cy="22680"/>
          </a:xfrm>
          <a:prstGeom prst="rect">
            <a:avLst/>
          </a:prstGeom>
          <a:solidFill>
            <a:srgbClr val="2A3A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Rectangle 7"/>
          <p:cNvSpPr/>
          <p:nvPr/>
        </p:nvSpPr>
        <p:spPr>
          <a:xfrm>
            <a:off x="411480" y="1188720"/>
            <a:ext cx="2011320" cy="22680"/>
          </a:xfrm>
          <a:prstGeom prst="rect">
            <a:avLst/>
          </a:prstGeom>
          <a:solidFill>
            <a:srgbClr val="00FF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8"/>
          <p:cNvSpPr/>
          <p:nvPr/>
        </p:nvSpPr>
        <p:spPr>
          <a:xfrm>
            <a:off x="411480" y="1261800"/>
            <a:ext cx="100580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A simple, non-technical view of how a user's voice request is processed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ounded Rectangle 9"/>
          <p:cNvSpPr/>
          <p:nvPr/>
        </p:nvSpPr>
        <p:spPr>
          <a:xfrm>
            <a:off x="914400" y="2286000"/>
            <a:ext cx="2925720" cy="1554120"/>
          </a:xfrm>
          <a:prstGeom prst="roundRect">
            <a:avLst>
              <a:gd name="adj" fmla="val 16667"/>
            </a:avLst>
          </a:prstGeom>
          <a:solidFill>
            <a:srgbClr val="182138"/>
          </a:solidFill>
          <a:ln w="25400">
            <a:solidFill>
              <a:srgbClr val="00E5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10"/>
          <p:cNvSpPr/>
          <p:nvPr/>
        </p:nvSpPr>
        <p:spPr>
          <a:xfrm>
            <a:off x="914400" y="242316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🎤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11"/>
          <p:cNvSpPr/>
          <p:nvPr/>
        </p:nvSpPr>
        <p:spPr>
          <a:xfrm>
            <a:off x="914400" y="292608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0E5FF"/>
                </a:solidFill>
                <a:effectLst/>
                <a:uFillTx/>
                <a:latin typeface="Calibri"/>
              </a:rPr>
              <a:t>1. Voice Input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12"/>
          <p:cNvSpPr/>
          <p:nvPr/>
        </p:nvSpPr>
        <p:spPr>
          <a:xfrm>
            <a:off x="1005840" y="3291840"/>
            <a:ext cx="2742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User speaks their travel request into the microphone.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Right Arrow 13"/>
          <p:cNvSpPr/>
          <p:nvPr/>
        </p:nvSpPr>
        <p:spPr>
          <a:xfrm>
            <a:off x="4023360" y="2834640"/>
            <a:ext cx="548280" cy="4568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A8E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Rounded Rectangle 14"/>
          <p:cNvSpPr/>
          <p:nvPr/>
        </p:nvSpPr>
        <p:spPr>
          <a:xfrm>
            <a:off x="4754880" y="2286000"/>
            <a:ext cx="2925720" cy="1554120"/>
          </a:xfrm>
          <a:prstGeom prst="roundRect">
            <a:avLst>
              <a:gd name="adj" fmla="val 16667"/>
            </a:avLst>
          </a:prstGeom>
          <a:solidFill>
            <a:srgbClr val="182138"/>
          </a:solidFill>
          <a:ln w="25400">
            <a:solidFill>
              <a:srgbClr val="A85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15"/>
          <p:cNvSpPr/>
          <p:nvPr/>
        </p:nvSpPr>
        <p:spPr>
          <a:xfrm>
            <a:off x="4754880" y="242316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🤖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16"/>
          <p:cNvSpPr/>
          <p:nvPr/>
        </p:nvSpPr>
        <p:spPr>
          <a:xfrm>
            <a:off x="4754880" y="292608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A85CFF"/>
                </a:solidFill>
                <a:effectLst/>
                <a:uFillTx/>
                <a:latin typeface="Calibri"/>
              </a:rPr>
              <a:t>2. Speech to Text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17"/>
          <p:cNvSpPr/>
          <p:nvPr/>
        </p:nvSpPr>
        <p:spPr>
          <a:xfrm>
            <a:off x="4846320" y="3291840"/>
            <a:ext cx="2742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AI converts the spoken audio into written text.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Right Arrow 18"/>
          <p:cNvSpPr/>
          <p:nvPr/>
        </p:nvSpPr>
        <p:spPr>
          <a:xfrm>
            <a:off x="7863840" y="2834640"/>
            <a:ext cx="548280" cy="4568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A8E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Rounded Rectangle 19"/>
          <p:cNvSpPr/>
          <p:nvPr/>
        </p:nvSpPr>
        <p:spPr>
          <a:xfrm>
            <a:off x="8595360" y="2286000"/>
            <a:ext cx="2925720" cy="1554120"/>
          </a:xfrm>
          <a:prstGeom prst="roundRect">
            <a:avLst>
              <a:gd name="adj" fmla="val 16667"/>
            </a:avLst>
          </a:prstGeom>
          <a:solidFill>
            <a:srgbClr val="182138"/>
          </a:solidFill>
          <a:ln w="25400">
            <a:solidFill>
              <a:srgbClr val="00FFB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4" name="TextBox 20"/>
          <p:cNvSpPr/>
          <p:nvPr/>
        </p:nvSpPr>
        <p:spPr>
          <a:xfrm>
            <a:off x="8595360" y="242316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🧠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21"/>
          <p:cNvSpPr/>
          <p:nvPr/>
        </p:nvSpPr>
        <p:spPr>
          <a:xfrm>
            <a:off x="8595360" y="292608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0FFB3"/>
                </a:solidFill>
                <a:effectLst/>
                <a:uFillTx/>
                <a:latin typeface="Calibri"/>
              </a:rPr>
              <a:t>3. AI Understanding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22"/>
          <p:cNvSpPr/>
          <p:nvPr/>
        </p:nvSpPr>
        <p:spPr>
          <a:xfrm>
            <a:off x="8686800" y="3291840"/>
            <a:ext cx="2742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System extracts origin and destination cities from the text.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Down Arrow 23"/>
          <p:cNvSpPr/>
          <p:nvPr/>
        </p:nvSpPr>
        <p:spPr>
          <a:xfrm>
            <a:off x="9784080" y="3977640"/>
            <a:ext cx="548280" cy="4568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7A8E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Rounded Rectangle 24"/>
          <p:cNvSpPr/>
          <p:nvPr/>
        </p:nvSpPr>
        <p:spPr>
          <a:xfrm>
            <a:off x="8595360" y="4572000"/>
            <a:ext cx="2925720" cy="1554120"/>
          </a:xfrm>
          <a:prstGeom prst="roundRect">
            <a:avLst>
              <a:gd name="adj" fmla="val 16667"/>
            </a:avLst>
          </a:prstGeom>
          <a:solidFill>
            <a:srgbClr val="182138"/>
          </a:solidFill>
          <a:ln w="25400">
            <a:solidFill>
              <a:srgbClr val="FFC7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Box 25"/>
          <p:cNvSpPr/>
          <p:nvPr/>
        </p:nvSpPr>
        <p:spPr>
          <a:xfrm>
            <a:off x="8595360" y="470916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🗄️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26"/>
          <p:cNvSpPr/>
          <p:nvPr/>
        </p:nvSpPr>
        <p:spPr>
          <a:xfrm>
            <a:off x="8595360" y="521208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C700"/>
                </a:solidFill>
                <a:effectLst/>
                <a:uFillTx/>
                <a:latin typeface="Calibri"/>
              </a:rPr>
              <a:t>4. Database Search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27"/>
          <p:cNvSpPr/>
          <p:nvPr/>
        </p:nvSpPr>
        <p:spPr>
          <a:xfrm>
            <a:off x="8686800" y="5577840"/>
            <a:ext cx="2742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Searches Neo4j and MySQL for the best routes and tickets.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Left Arrow 28"/>
          <p:cNvSpPr/>
          <p:nvPr/>
        </p:nvSpPr>
        <p:spPr>
          <a:xfrm>
            <a:off x="7863840" y="5120640"/>
            <a:ext cx="548280" cy="45684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7A8E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Rounded Rectangle 29"/>
          <p:cNvSpPr/>
          <p:nvPr/>
        </p:nvSpPr>
        <p:spPr>
          <a:xfrm>
            <a:off x="4754880" y="4572000"/>
            <a:ext cx="2925720" cy="1554120"/>
          </a:xfrm>
          <a:prstGeom prst="roundRect">
            <a:avLst>
              <a:gd name="adj" fmla="val 16667"/>
            </a:avLst>
          </a:prstGeom>
          <a:solidFill>
            <a:srgbClr val="182138"/>
          </a:solidFill>
          <a:ln w="25400">
            <a:solidFill>
              <a:srgbClr val="00E5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Box 30"/>
          <p:cNvSpPr/>
          <p:nvPr/>
        </p:nvSpPr>
        <p:spPr>
          <a:xfrm>
            <a:off x="4754880" y="470916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🔊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31"/>
          <p:cNvSpPr/>
          <p:nvPr/>
        </p:nvSpPr>
        <p:spPr>
          <a:xfrm>
            <a:off x="4754880" y="521208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0E5FF"/>
                </a:solidFill>
                <a:effectLst/>
                <a:uFillTx/>
                <a:latin typeface="Calibri"/>
              </a:rPr>
              <a:t>5. Text to Speech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32"/>
          <p:cNvSpPr/>
          <p:nvPr/>
        </p:nvSpPr>
        <p:spPr>
          <a:xfrm>
            <a:off x="4846320" y="5577840"/>
            <a:ext cx="2742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Generates a natural spoken summary of the results.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Left Arrow 33"/>
          <p:cNvSpPr/>
          <p:nvPr/>
        </p:nvSpPr>
        <p:spPr>
          <a:xfrm>
            <a:off x="4023360" y="5120640"/>
            <a:ext cx="548280" cy="45684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7A8E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Rounded Rectangle 34"/>
          <p:cNvSpPr/>
          <p:nvPr/>
        </p:nvSpPr>
        <p:spPr>
          <a:xfrm>
            <a:off x="914400" y="4572000"/>
            <a:ext cx="2925720" cy="1554120"/>
          </a:xfrm>
          <a:prstGeom prst="roundRect">
            <a:avLst>
              <a:gd name="adj" fmla="val 16667"/>
            </a:avLst>
          </a:prstGeom>
          <a:solidFill>
            <a:srgbClr val="182138"/>
          </a:solidFill>
          <a:ln w="25400">
            <a:solidFill>
              <a:srgbClr val="00FFB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9" name="TextBox 35"/>
          <p:cNvSpPr/>
          <p:nvPr/>
        </p:nvSpPr>
        <p:spPr>
          <a:xfrm>
            <a:off x="914400" y="470916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🌐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36"/>
          <p:cNvSpPr/>
          <p:nvPr/>
        </p:nvSpPr>
        <p:spPr>
          <a:xfrm>
            <a:off x="914400" y="521208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0FFB3"/>
                </a:solidFill>
                <a:effectLst/>
                <a:uFillTx/>
                <a:latin typeface="Calibri"/>
              </a:rPr>
              <a:t>6. Results Output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37"/>
          <p:cNvSpPr/>
          <p:nvPr/>
        </p:nvSpPr>
        <p:spPr>
          <a:xfrm>
            <a:off x="1005840" y="5577840"/>
            <a:ext cx="2742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User sees the tickets on screen and hears the spoken response.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Rectangle 1"/>
          <p:cNvSpPr/>
          <p:nvPr/>
        </p:nvSpPr>
        <p:spPr>
          <a:xfrm>
            <a:off x="0" y="0"/>
            <a:ext cx="6098760" cy="50040"/>
          </a:xfrm>
          <a:prstGeom prst="rect">
            <a:avLst/>
          </a:prstGeom>
          <a:solidFill>
            <a:srgbClr val="FFC7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00" rIns="90000" bIns="5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3" name="Rectangle 2"/>
          <p:cNvSpPr/>
          <p:nvPr/>
        </p:nvSpPr>
        <p:spPr>
          <a:xfrm>
            <a:off x="6099120" y="0"/>
            <a:ext cx="6089400" cy="50040"/>
          </a:xfrm>
          <a:prstGeom prst="rect">
            <a:avLst/>
          </a:prstGeom>
          <a:solidFill>
            <a:srgbClr val="FFC7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00" rIns="90000" bIns="5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Rectangle 3"/>
          <p:cNvSpPr/>
          <p:nvPr/>
        </p:nvSpPr>
        <p:spPr>
          <a:xfrm>
            <a:off x="411480" y="109800"/>
            <a:ext cx="54360" cy="237240"/>
          </a:xfrm>
          <a:prstGeom prst="rect">
            <a:avLst/>
          </a:prstGeom>
          <a:solidFill>
            <a:srgbClr val="FFC7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Box 4"/>
          <p:cNvSpPr/>
          <p:nvPr/>
        </p:nvSpPr>
        <p:spPr>
          <a:xfrm>
            <a:off x="411480" y="109800"/>
            <a:ext cx="3200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C700"/>
                </a:solidFill>
                <a:effectLst/>
                <a:uFillTx/>
                <a:latin typeface="Calibri"/>
              </a:rPr>
              <a:t>  MODULES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5"/>
          <p:cNvSpPr/>
          <p:nvPr/>
        </p:nvSpPr>
        <p:spPr>
          <a:xfrm>
            <a:off x="411480" y="438840"/>
            <a:ext cx="8229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Modules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Rectangle 6"/>
          <p:cNvSpPr/>
          <p:nvPr/>
        </p:nvSpPr>
        <p:spPr>
          <a:xfrm>
            <a:off x="411480" y="1188720"/>
            <a:ext cx="11365560" cy="22680"/>
          </a:xfrm>
          <a:prstGeom prst="rect">
            <a:avLst/>
          </a:prstGeom>
          <a:solidFill>
            <a:srgbClr val="2A3A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8" name="Rectangle 7"/>
          <p:cNvSpPr/>
          <p:nvPr/>
        </p:nvSpPr>
        <p:spPr>
          <a:xfrm>
            <a:off x="411480" y="1188720"/>
            <a:ext cx="2011320" cy="22680"/>
          </a:xfrm>
          <a:prstGeom prst="rect">
            <a:avLst/>
          </a:prstGeom>
          <a:solidFill>
            <a:srgbClr val="FFC7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TextBox 8"/>
          <p:cNvSpPr/>
          <p:nvPr/>
        </p:nvSpPr>
        <p:spPr>
          <a:xfrm>
            <a:off x="411480" y="1261800"/>
            <a:ext cx="91436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6 core functional modules — each with a single responsibility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Rectangle 9"/>
          <p:cNvSpPr/>
          <p:nvPr/>
        </p:nvSpPr>
        <p:spPr>
          <a:xfrm>
            <a:off x="201240" y="1719000"/>
            <a:ext cx="3748680" cy="221256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Rectangle 10"/>
          <p:cNvSpPr/>
          <p:nvPr/>
        </p:nvSpPr>
        <p:spPr>
          <a:xfrm>
            <a:off x="201240" y="1719000"/>
            <a:ext cx="3748680" cy="3636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Rectangle 11"/>
          <p:cNvSpPr/>
          <p:nvPr/>
        </p:nvSpPr>
        <p:spPr>
          <a:xfrm>
            <a:off x="201240" y="1719000"/>
            <a:ext cx="36360" cy="221256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Rectangle 12"/>
          <p:cNvSpPr/>
          <p:nvPr/>
        </p:nvSpPr>
        <p:spPr>
          <a:xfrm>
            <a:off x="292680" y="1810440"/>
            <a:ext cx="420120" cy="42012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4" name="TextBox 13"/>
          <p:cNvSpPr/>
          <p:nvPr/>
        </p:nvSpPr>
        <p:spPr>
          <a:xfrm>
            <a:off x="292680" y="181044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B0F1A"/>
                </a:solidFill>
                <a:effectLst/>
                <a:uFillTx/>
                <a:latin typeface="Calibri"/>
              </a:rPr>
              <a:t>M1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14"/>
          <p:cNvSpPr/>
          <p:nvPr/>
        </p:nvSpPr>
        <p:spPr>
          <a:xfrm>
            <a:off x="795600" y="1792080"/>
            <a:ext cx="502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15"/>
          <p:cNvSpPr/>
          <p:nvPr/>
        </p:nvSpPr>
        <p:spPr>
          <a:xfrm>
            <a:off x="292680" y="2267640"/>
            <a:ext cx="3565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0E5FF"/>
                </a:solidFill>
                <a:effectLst/>
                <a:uFillTx/>
                <a:latin typeface="Calibri"/>
              </a:rPr>
              <a:t>Speech Recognition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16"/>
          <p:cNvSpPr/>
          <p:nvPr/>
        </p:nvSpPr>
        <p:spPr>
          <a:xfrm>
            <a:off x="292680" y="2597040"/>
            <a:ext cx="356580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Engine: Whisper Tiny (openai-whisper)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Input: WebM audio from browser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Process: WebM → 16kHz PCM → float32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Output: plain-text transcript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100% offline, no cloud API needed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Rectangle 17"/>
          <p:cNvSpPr/>
          <p:nvPr/>
        </p:nvSpPr>
        <p:spPr>
          <a:xfrm>
            <a:off x="4187880" y="1719000"/>
            <a:ext cx="3748680" cy="221256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Rectangle 18"/>
          <p:cNvSpPr/>
          <p:nvPr/>
        </p:nvSpPr>
        <p:spPr>
          <a:xfrm>
            <a:off x="4187880" y="1719000"/>
            <a:ext cx="3748680" cy="3636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0" name="Rectangle 19"/>
          <p:cNvSpPr/>
          <p:nvPr/>
        </p:nvSpPr>
        <p:spPr>
          <a:xfrm>
            <a:off x="4187880" y="1719000"/>
            <a:ext cx="36360" cy="221256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Rectangle 20"/>
          <p:cNvSpPr/>
          <p:nvPr/>
        </p:nvSpPr>
        <p:spPr>
          <a:xfrm>
            <a:off x="4279320" y="1810440"/>
            <a:ext cx="420120" cy="42012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TextBox 21"/>
          <p:cNvSpPr/>
          <p:nvPr/>
        </p:nvSpPr>
        <p:spPr>
          <a:xfrm>
            <a:off x="4279320" y="181044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B0F1A"/>
                </a:solidFill>
                <a:effectLst/>
                <a:uFillTx/>
                <a:latin typeface="Calibri"/>
              </a:rPr>
              <a:t>M2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22"/>
          <p:cNvSpPr/>
          <p:nvPr/>
        </p:nvSpPr>
        <p:spPr>
          <a:xfrm>
            <a:off x="4782240" y="1792080"/>
            <a:ext cx="502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🧠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23"/>
          <p:cNvSpPr/>
          <p:nvPr/>
        </p:nvSpPr>
        <p:spPr>
          <a:xfrm>
            <a:off x="4279320" y="2267640"/>
            <a:ext cx="3565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A85CFF"/>
                </a:solidFill>
                <a:effectLst/>
                <a:uFillTx/>
                <a:latin typeface="Calibri"/>
              </a:rPr>
              <a:t>NLP &amp; Normalisation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24"/>
          <p:cNvSpPr/>
          <p:nvPr/>
        </p:nvSpPr>
        <p:spPr>
          <a:xfrm>
            <a:off x="4279320" y="2597040"/>
            <a:ext cx="356580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spaCy NER for GPE/LOC entity extraction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Exact substring + token fuzzy matching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RapidFuzz Levenshtein ≥ 75% threshold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Preposition &amp; positional assignment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Handles typos: 'mumbay' → 'Mumbai'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25"/>
          <p:cNvSpPr/>
          <p:nvPr/>
        </p:nvSpPr>
        <p:spPr>
          <a:xfrm>
            <a:off x="8165520" y="1719000"/>
            <a:ext cx="3748680" cy="221256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Rectangle 26"/>
          <p:cNvSpPr/>
          <p:nvPr/>
        </p:nvSpPr>
        <p:spPr>
          <a:xfrm>
            <a:off x="8165520" y="1719000"/>
            <a:ext cx="3748680" cy="36360"/>
          </a:xfrm>
          <a:prstGeom prst="rect">
            <a:avLst/>
          </a:prstGeom>
          <a:solidFill>
            <a:srgbClr val="00FF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8" name="Rectangle 27"/>
          <p:cNvSpPr/>
          <p:nvPr/>
        </p:nvSpPr>
        <p:spPr>
          <a:xfrm>
            <a:off x="8165520" y="1719000"/>
            <a:ext cx="36360" cy="2212560"/>
          </a:xfrm>
          <a:prstGeom prst="rect">
            <a:avLst/>
          </a:prstGeom>
          <a:solidFill>
            <a:srgbClr val="00FF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9" name="Rectangle 28"/>
          <p:cNvSpPr/>
          <p:nvPr/>
        </p:nvSpPr>
        <p:spPr>
          <a:xfrm>
            <a:off x="8256960" y="1810440"/>
            <a:ext cx="420120" cy="420120"/>
          </a:xfrm>
          <a:prstGeom prst="rect">
            <a:avLst/>
          </a:prstGeom>
          <a:solidFill>
            <a:srgbClr val="00FF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29"/>
          <p:cNvSpPr/>
          <p:nvPr/>
        </p:nvSpPr>
        <p:spPr>
          <a:xfrm>
            <a:off x="8256960" y="181044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B0F1A"/>
                </a:solidFill>
                <a:effectLst/>
                <a:uFillTx/>
                <a:latin typeface="Calibri"/>
              </a:rPr>
              <a:t>M3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Box 30"/>
          <p:cNvSpPr/>
          <p:nvPr/>
        </p:nvSpPr>
        <p:spPr>
          <a:xfrm>
            <a:off x="8759880" y="1792080"/>
            <a:ext cx="502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🗄️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8256960" y="2267640"/>
            <a:ext cx="3565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0FFB3"/>
                </a:solidFill>
                <a:effectLst/>
                <a:uFillTx/>
                <a:latin typeface="Calibri"/>
              </a:rPr>
              <a:t>Polyglot DB Engine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8256960" y="2597040"/>
            <a:ext cx="356580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Neo4j: Cypher graph traversal (1–5 hops)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MySQL: schedule + seat lookup by route_id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Multi-leg: per-leg queries, path validation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database.py bridges both DB engines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route_id is the logical join key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Rectangle 33"/>
          <p:cNvSpPr/>
          <p:nvPr/>
        </p:nvSpPr>
        <p:spPr>
          <a:xfrm>
            <a:off x="201240" y="4160520"/>
            <a:ext cx="3748680" cy="221256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Rectangle 34"/>
          <p:cNvSpPr/>
          <p:nvPr/>
        </p:nvSpPr>
        <p:spPr>
          <a:xfrm>
            <a:off x="201240" y="4160520"/>
            <a:ext cx="3748680" cy="36360"/>
          </a:xfrm>
          <a:prstGeom prst="rect">
            <a:avLst/>
          </a:prstGeom>
          <a:solidFill>
            <a:srgbClr val="FFC7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6" name="Rectangle 35"/>
          <p:cNvSpPr/>
          <p:nvPr/>
        </p:nvSpPr>
        <p:spPr>
          <a:xfrm>
            <a:off x="201240" y="4160520"/>
            <a:ext cx="36360" cy="2212560"/>
          </a:xfrm>
          <a:prstGeom prst="rect">
            <a:avLst/>
          </a:prstGeom>
          <a:solidFill>
            <a:srgbClr val="FFC7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Rectangle 36"/>
          <p:cNvSpPr/>
          <p:nvPr/>
        </p:nvSpPr>
        <p:spPr>
          <a:xfrm>
            <a:off x="292680" y="4251960"/>
            <a:ext cx="420120" cy="420120"/>
          </a:xfrm>
          <a:prstGeom prst="rect">
            <a:avLst/>
          </a:prstGeom>
          <a:solidFill>
            <a:srgbClr val="FFC7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37"/>
          <p:cNvSpPr/>
          <p:nvPr/>
        </p:nvSpPr>
        <p:spPr>
          <a:xfrm>
            <a:off x="292680" y="425196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B0F1A"/>
                </a:solidFill>
                <a:effectLst/>
                <a:uFillTx/>
                <a:latin typeface="Calibri"/>
              </a:rPr>
              <a:t>M4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38"/>
          <p:cNvSpPr/>
          <p:nvPr/>
        </p:nvSpPr>
        <p:spPr>
          <a:xfrm>
            <a:off x="795600" y="4233600"/>
            <a:ext cx="502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🔊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Box 39"/>
          <p:cNvSpPr/>
          <p:nvPr/>
        </p:nvSpPr>
        <p:spPr>
          <a:xfrm>
            <a:off x="292680" y="4709160"/>
            <a:ext cx="3565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C700"/>
                </a:solidFill>
                <a:effectLst/>
                <a:uFillTx/>
                <a:latin typeface="Calibri"/>
              </a:rPr>
              <a:t>Text-to-Speech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Box 40"/>
          <p:cNvSpPr/>
          <p:nvPr/>
        </p:nvSpPr>
        <p:spPr>
          <a:xfrm>
            <a:off x="292680" y="5038200"/>
            <a:ext cx="356580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Engine: Kokoro-82M ONNX (offline)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Voice: af_sarah · Speed: 1.6×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Output: WAV streamed via /tts endpoint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Browser fetches audio asynchronously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Graceful fallback if model unavailable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Rectangle 41"/>
          <p:cNvSpPr/>
          <p:nvPr/>
        </p:nvSpPr>
        <p:spPr>
          <a:xfrm>
            <a:off x="4187880" y="4160520"/>
            <a:ext cx="3748680" cy="221256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3" name="Rectangle 42"/>
          <p:cNvSpPr/>
          <p:nvPr/>
        </p:nvSpPr>
        <p:spPr>
          <a:xfrm>
            <a:off x="4187880" y="4160520"/>
            <a:ext cx="3748680" cy="3636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Rectangle 43"/>
          <p:cNvSpPr/>
          <p:nvPr/>
        </p:nvSpPr>
        <p:spPr>
          <a:xfrm>
            <a:off x="4187880" y="4160520"/>
            <a:ext cx="36360" cy="221256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5" name="Rectangle 44"/>
          <p:cNvSpPr/>
          <p:nvPr/>
        </p:nvSpPr>
        <p:spPr>
          <a:xfrm>
            <a:off x="4279320" y="4251960"/>
            <a:ext cx="420120" cy="420120"/>
          </a:xfrm>
          <a:prstGeom prst="rect">
            <a:avLst/>
          </a:prstGeom>
          <a:solidFill>
            <a:srgbClr val="00E5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6" name="TextBox 45"/>
          <p:cNvSpPr/>
          <p:nvPr/>
        </p:nvSpPr>
        <p:spPr>
          <a:xfrm>
            <a:off x="4279320" y="425196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B0F1A"/>
                </a:solidFill>
                <a:effectLst/>
                <a:uFillTx/>
                <a:latin typeface="Calibri"/>
              </a:rPr>
              <a:t>M5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46"/>
          <p:cNvSpPr/>
          <p:nvPr/>
        </p:nvSpPr>
        <p:spPr>
          <a:xfrm>
            <a:off x="4782240" y="4233600"/>
            <a:ext cx="502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Box 47"/>
          <p:cNvSpPr/>
          <p:nvPr/>
        </p:nvSpPr>
        <p:spPr>
          <a:xfrm>
            <a:off x="4279320" y="4709160"/>
            <a:ext cx="3565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0E5FF"/>
                </a:solidFill>
                <a:effectLst/>
                <a:uFillTx/>
                <a:latin typeface="Calibri"/>
              </a:rPr>
              <a:t>Auth &amp; Booking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Box 48"/>
          <p:cNvSpPr/>
          <p:nvPr/>
        </p:nvSpPr>
        <p:spPr>
          <a:xfrm>
            <a:off x="4279320" y="5038200"/>
            <a:ext cx="356580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bcrypt password hashing (werkzeug)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SELECT FOR UPDATE row lock (no race cond.)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Single + multi-leg atomic transactions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Soft-delete cancel + seat restoration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Admin guard: before_request session check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Rectangle 49"/>
          <p:cNvSpPr/>
          <p:nvPr/>
        </p:nvSpPr>
        <p:spPr>
          <a:xfrm>
            <a:off x="8165520" y="4160520"/>
            <a:ext cx="3748680" cy="2212560"/>
          </a:xfrm>
          <a:prstGeom prst="rect">
            <a:avLst/>
          </a:prstGeom>
          <a:solidFill>
            <a:srgbClr val="1821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1" name="Rectangle 50"/>
          <p:cNvSpPr/>
          <p:nvPr/>
        </p:nvSpPr>
        <p:spPr>
          <a:xfrm>
            <a:off x="8165520" y="4160520"/>
            <a:ext cx="3748680" cy="3636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2" name="Rectangle 51"/>
          <p:cNvSpPr/>
          <p:nvPr/>
        </p:nvSpPr>
        <p:spPr>
          <a:xfrm>
            <a:off x="8165520" y="4160520"/>
            <a:ext cx="36360" cy="221256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3" name="Rectangle 52"/>
          <p:cNvSpPr/>
          <p:nvPr/>
        </p:nvSpPr>
        <p:spPr>
          <a:xfrm>
            <a:off x="8256960" y="4251960"/>
            <a:ext cx="420120" cy="420120"/>
          </a:xfrm>
          <a:prstGeom prst="rect">
            <a:avLst/>
          </a:prstGeom>
          <a:solidFill>
            <a:srgbClr val="A85C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4" name="TextBox 53"/>
          <p:cNvSpPr/>
          <p:nvPr/>
        </p:nvSpPr>
        <p:spPr>
          <a:xfrm>
            <a:off x="8256960" y="425196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B0F1A"/>
                </a:solidFill>
                <a:effectLst/>
                <a:uFillTx/>
                <a:latin typeface="Calibri"/>
              </a:rPr>
              <a:t>M6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Box 54"/>
          <p:cNvSpPr/>
          <p:nvPr/>
        </p:nvSpPr>
        <p:spPr>
          <a:xfrm>
            <a:off x="8759880" y="4233600"/>
            <a:ext cx="5025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55"/>
          <p:cNvSpPr/>
          <p:nvPr/>
        </p:nvSpPr>
        <p:spPr>
          <a:xfrm>
            <a:off x="8256960" y="4709160"/>
            <a:ext cx="3565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A85CFF"/>
                </a:solidFill>
                <a:effectLst/>
                <a:uFillTx/>
                <a:latin typeface="Calibri"/>
              </a:rPr>
              <a:t>Frontend &amp; PWA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Box 56"/>
          <p:cNvSpPr/>
          <p:nvPr/>
        </p:nvSpPr>
        <p:spPr>
          <a:xfrm>
            <a:off x="8256960" y="5038200"/>
            <a:ext cx="356580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Vanilla HTML5/CSS3/JS — no framework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Service Worker: offline page caching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sessionStorage: back-nav result cache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7 responsive templates (Jinja2)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A8EAA"/>
                </a:solidFill>
                <a:effectLst/>
                <a:uFillTx/>
                <a:latin typeface="Calibri"/>
              </a:rPr>
              <a:t>• PWA manifest + installable to homescreen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LibreOffice/26.2.4.2$Linux_X86_64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2026-07-13T23:23:49Z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