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3F52085-A9D9-4B05-8796-7D940D70CF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A53A792-E415-4230-8B3F-2B2264E5C9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E29B723-2625-4B59-B7B1-FEEB39ABC1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B652DAB-E4E3-4C90-A93E-85025198EC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FF5014A-4576-49EA-BC0E-7605F6FC56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A517B0-0ACB-4801-B0BB-E5B4218ECC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3552A55-48A5-4CA3-B7AC-DA53A3CEAB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DF1B898-CDE4-4FF5-B8BE-4C15C4ECF0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16529A9-5999-4E76-9833-8ECB4C5DFC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516D568-194E-41A4-9FE9-9A8BA2D9FC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7B17B64-A281-44C2-ABB0-BAA95C4D87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72360" cy="685728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8778240" y="0"/>
            <a:ext cx="3409920" cy="6857280"/>
          </a:xfrm>
          <a:prstGeom prst="rect">
            <a:avLst/>
          </a:prstGeom>
          <a:solidFill>
            <a:srgbClr val="11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9052560" y="502920"/>
            <a:ext cx="81720" cy="81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9619560" y="502920"/>
            <a:ext cx="81720" cy="81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10186560" y="502920"/>
            <a:ext cx="81720" cy="817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10753200" y="502920"/>
            <a:ext cx="81720" cy="81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11320200" y="502920"/>
            <a:ext cx="81720" cy="81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8"/>
          <p:cNvSpPr/>
          <p:nvPr/>
        </p:nvSpPr>
        <p:spPr>
          <a:xfrm>
            <a:off x="9052560" y="1417320"/>
            <a:ext cx="81720" cy="81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9619560" y="1417320"/>
            <a:ext cx="81720" cy="817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10186560" y="1417320"/>
            <a:ext cx="81720" cy="81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1"/>
          <p:cNvSpPr/>
          <p:nvPr/>
        </p:nvSpPr>
        <p:spPr>
          <a:xfrm>
            <a:off x="10753200" y="1417320"/>
            <a:ext cx="81720" cy="81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12"/>
          <p:cNvSpPr/>
          <p:nvPr/>
        </p:nvSpPr>
        <p:spPr>
          <a:xfrm>
            <a:off x="11320200" y="1417320"/>
            <a:ext cx="81720" cy="817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13"/>
          <p:cNvSpPr/>
          <p:nvPr/>
        </p:nvSpPr>
        <p:spPr>
          <a:xfrm>
            <a:off x="9052560" y="2331720"/>
            <a:ext cx="81720" cy="817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14"/>
          <p:cNvSpPr/>
          <p:nvPr/>
        </p:nvSpPr>
        <p:spPr>
          <a:xfrm>
            <a:off x="9619560" y="2331720"/>
            <a:ext cx="81720" cy="81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15"/>
          <p:cNvSpPr/>
          <p:nvPr/>
        </p:nvSpPr>
        <p:spPr>
          <a:xfrm>
            <a:off x="10186560" y="2331720"/>
            <a:ext cx="81720" cy="81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16"/>
          <p:cNvSpPr/>
          <p:nvPr/>
        </p:nvSpPr>
        <p:spPr>
          <a:xfrm>
            <a:off x="10753200" y="2331720"/>
            <a:ext cx="81720" cy="817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17"/>
          <p:cNvSpPr/>
          <p:nvPr/>
        </p:nvSpPr>
        <p:spPr>
          <a:xfrm>
            <a:off x="11320200" y="2331720"/>
            <a:ext cx="81720" cy="81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18"/>
          <p:cNvSpPr/>
          <p:nvPr/>
        </p:nvSpPr>
        <p:spPr>
          <a:xfrm>
            <a:off x="9052560" y="3246120"/>
            <a:ext cx="81720" cy="81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19"/>
          <p:cNvSpPr/>
          <p:nvPr/>
        </p:nvSpPr>
        <p:spPr>
          <a:xfrm>
            <a:off x="9619560" y="3246120"/>
            <a:ext cx="81720" cy="81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20"/>
          <p:cNvSpPr/>
          <p:nvPr/>
        </p:nvSpPr>
        <p:spPr>
          <a:xfrm>
            <a:off x="10186560" y="3246120"/>
            <a:ext cx="81720" cy="817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21"/>
          <p:cNvSpPr/>
          <p:nvPr/>
        </p:nvSpPr>
        <p:spPr>
          <a:xfrm>
            <a:off x="10753200" y="3246120"/>
            <a:ext cx="81720" cy="81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22"/>
          <p:cNvSpPr/>
          <p:nvPr/>
        </p:nvSpPr>
        <p:spPr>
          <a:xfrm>
            <a:off x="11320200" y="3246120"/>
            <a:ext cx="81720" cy="81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23"/>
          <p:cNvSpPr/>
          <p:nvPr/>
        </p:nvSpPr>
        <p:spPr>
          <a:xfrm>
            <a:off x="9052560" y="4160520"/>
            <a:ext cx="81720" cy="81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24"/>
          <p:cNvSpPr/>
          <p:nvPr/>
        </p:nvSpPr>
        <p:spPr>
          <a:xfrm>
            <a:off x="9619560" y="4160520"/>
            <a:ext cx="81720" cy="817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25"/>
          <p:cNvSpPr/>
          <p:nvPr/>
        </p:nvSpPr>
        <p:spPr>
          <a:xfrm>
            <a:off x="10186560" y="4160520"/>
            <a:ext cx="81720" cy="81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26"/>
          <p:cNvSpPr/>
          <p:nvPr/>
        </p:nvSpPr>
        <p:spPr>
          <a:xfrm>
            <a:off x="10753200" y="4160520"/>
            <a:ext cx="81720" cy="81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27"/>
          <p:cNvSpPr/>
          <p:nvPr/>
        </p:nvSpPr>
        <p:spPr>
          <a:xfrm>
            <a:off x="11320200" y="4160520"/>
            <a:ext cx="81720" cy="817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28"/>
          <p:cNvSpPr/>
          <p:nvPr/>
        </p:nvSpPr>
        <p:spPr>
          <a:xfrm>
            <a:off x="9052560" y="5074920"/>
            <a:ext cx="81720" cy="817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29"/>
          <p:cNvSpPr/>
          <p:nvPr/>
        </p:nvSpPr>
        <p:spPr>
          <a:xfrm>
            <a:off x="9619560" y="5074920"/>
            <a:ext cx="81720" cy="81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30"/>
          <p:cNvSpPr/>
          <p:nvPr/>
        </p:nvSpPr>
        <p:spPr>
          <a:xfrm>
            <a:off x="10186560" y="5074920"/>
            <a:ext cx="81720" cy="81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ectangle 31"/>
          <p:cNvSpPr/>
          <p:nvPr/>
        </p:nvSpPr>
        <p:spPr>
          <a:xfrm>
            <a:off x="10753200" y="5074920"/>
            <a:ext cx="81720" cy="817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32"/>
          <p:cNvSpPr/>
          <p:nvPr/>
        </p:nvSpPr>
        <p:spPr>
          <a:xfrm>
            <a:off x="11320200" y="5074920"/>
            <a:ext cx="81720" cy="81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33"/>
          <p:cNvSpPr/>
          <p:nvPr/>
        </p:nvSpPr>
        <p:spPr>
          <a:xfrm>
            <a:off x="9052560" y="5989320"/>
            <a:ext cx="81720" cy="81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34"/>
          <p:cNvSpPr/>
          <p:nvPr/>
        </p:nvSpPr>
        <p:spPr>
          <a:xfrm>
            <a:off x="9619560" y="5989320"/>
            <a:ext cx="81720" cy="81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35"/>
          <p:cNvSpPr/>
          <p:nvPr/>
        </p:nvSpPr>
        <p:spPr>
          <a:xfrm>
            <a:off x="10186560" y="5989320"/>
            <a:ext cx="81720" cy="817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36"/>
          <p:cNvSpPr/>
          <p:nvPr/>
        </p:nvSpPr>
        <p:spPr>
          <a:xfrm>
            <a:off x="10753200" y="5989320"/>
            <a:ext cx="81720" cy="81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37"/>
          <p:cNvSpPr/>
          <p:nvPr/>
        </p:nvSpPr>
        <p:spPr>
          <a:xfrm>
            <a:off x="11320200" y="5989320"/>
            <a:ext cx="81720" cy="817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1040" tIns="37440" rIns="4104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ectangle 38"/>
          <p:cNvSpPr/>
          <p:nvPr/>
        </p:nvSpPr>
        <p:spPr>
          <a:xfrm>
            <a:off x="73080" y="2880360"/>
            <a:ext cx="8704440" cy="2484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9440" rIns="90000" bIns="-19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39"/>
          <p:cNvSpPr/>
          <p:nvPr/>
        </p:nvSpPr>
        <p:spPr>
          <a:xfrm>
            <a:off x="73080" y="2907720"/>
            <a:ext cx="8704440" cy="1296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40"/>
          <p:cNvSpPr/>
          <p:nvPr/>
        </p:nvSpPr>
        <p:spPr>
          <a:xfrm>
            <a:off x="411480" y="594360"/>
            <a:ext cx="164520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🎙️</a:t>
            </a:r>
            <a:endParaRPr lang="en-US" sz="7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41"/>
          <p:cNvSpPr/>
          <p:nvPr/>
        </p:nvSpPr>
        <p:spPr>
          <a:xfrm>
            <a:off x="411480" y="1737360"/>
            <a:ext cx="8228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Voice-Based Transport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2"/>
          <p:cNvSpPr/>
          <p:nvPr/>
        </p:nvSpPr>
        <p:spPr>
          <a:xfrm>
            <a:off x="483480" y="2234520"/>
            <a:ext cx="8228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Gateway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3"/>
          <p:cNvSpPr/>
          <p:nvPr/>
        </p:nvSpPr>
        <p:spPr>
          <a:xfrm>
            <a:off x="411480" y="32187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Offline · AI-Powered · Voice-Controlled Transport Search &amp; Booking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44"/>
          <p:cNvSpPr/>
          <p:nvPr/>
        </p:nvSpPr>
        <p:spPr>
          <a:xfrm>
            <a:off x="411480" y="3675960"/>
            <a:ext cx="3474000" cy="223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45"/>
          <p:cNvSpPr/>
          <p:nvPr/>
        </p:nvSpPr>
        <p:spPr>
          <a:xfrm>
            <a:off x="411480" y="379476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D8E4F4"/>
                </a:solidFill>
                <a:effectLst/>
                <a:uFillTx/>
                <a:latin typeface="Calibri"/>
              </a:rPr>
              <a:t>Python · Flask · Neo4j · MySQL · Whisper ASR · Kokoro TTS · spaCy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46"/>
          <p:cNvSpPr/>
          <p:nvPr/>
        </p:nvSpPr>
        <p:spPr>
          <a:xfrm>
            <a:off x="411480" y="4709160"/>
            <a:ext cx="2010960" cy="40176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47"/>
          <p:cNvSpPr/>
          <p:nvPr/>
        </p:nvSpPr>
        <p:spPr>
          <a:xfrm>
            <a:off x="411480" y="4709160"/>
            <a:ext cx="2010960" cy="3420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0080" rIns="90000" bIns="-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48"/>
          <p:cNvSpPr/>
          <p:nvPr/>
        </p:nvSpPr>
        <p:spPr>
          <a:xfrm>
            <a:off x="411480" y="4709160"/>
            <a:ext cx="20109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🖥️  System Design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49"/>
          <p:cNvSpPr/>
          <p:nvPr/>
        </p:nvSpPr>
        <p:spPr>
          <a:xfrm>
            <a:off x="2514600" y="4709160"/>
            <a:ext cx="2010960" cy="40176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50"/>
          <p:cNvSpPr/>
          <p:nvPr/>
        </p:nvSpPr>
        <p:spPr>
          <a:xfrm>
            <a:off x="2514600" y="4709160"/>
            <a:ext cx="2010960" cy="3420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0080" rIns="90000" bIns="-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51"/>
          <p:cNvSpPr/>
          <p:nvPr/>
        </p:nvSpPr>
        <p:spPr>
          <a:xfrm>
            <a:off x="2514600" y="4709160"/>
            <a:ext cx="20109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A85CFF"/>
                </a:solidFill>
                <a:effectLst/>
                <a:uFillTx/>
                <a:latin typeface="Calibri"/>
              </a:rPr>
              <a:t>🏗️  Architectural Design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52"/>
          <p:cNvSpPr/>
          <p:nvPr/>
        </p:nvSpPr>
        <p:spPr>
          <a:xfrm>
            <a:off x="4617720" y="4709160"/>
            <a:ext cx="2010960" cy="40176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53"/>
          <p:cNvSpPr/>
          <p:nvPr/>
        </p:nvSpPr>
        <p:spPr>
          <a:xfrm>
            <a:off x="4617720" y="4709160"/>
            <a:ext cx="2010960" cy="34200"/>
          </a:xfrm>
          <a:prstGeom prst="rect">
            <a:avLst/>
          </a:prstGeom>
          <a:solidFill>
            <a:srgbClr val="00FF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0080" rIns="90000" bIns="-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54"/>
          <p:cNvSpPr/>
          <p:nvPr/>
        </p:nvSpPr>
        <p:spPr>
          <a:xfrm>
            <a:off x="4617720" y="4709160"/>
            <a:ext cx="20109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00FFB3"/>
                </a:solidFill>
                <a:effectLst/>
                <a:uFillTx/>
                <a:latin typeface="Calibri"/>
              </a:rPr>
              <a:t>🔄  Data Flow Diagram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55"/>
          <p:cNvSpPr/>
          <p:nvPr/>
        </p:nvSpPr>
        <p:spPr>
          <a:xfrm>
            <a:off x="6720840" y="4709160"/>
            <a:ext cx="2010960" cy="40176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56"/>
          <p:cNvSpPr/>
          <p:nvPr/>
        </p:nvSpPr>
        <p:spPr>
          <a:xfrm>
            <a:off x="6720840" y="4709160"/>
            <a:ext cx="2010960" cy="34200"/>
          </a:xfrm>
          <a:prstGeom prst="rect">
            <a:avLst/>
          </a:prstGeom>
          <a:solidFill>
            <a:srgbClr val="FFC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0080" rIns="90000" bIns="-10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57"/>
          <p:cNvSpPr/>
          <p:nvPr/>
        </p:nvSpPr>
        <p:spPr>
          <a:xfrm>
            <a:off x="6720840" y="4709160"/>
            <a:ext cx="20109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C700"/>
                </a:solidFill>
                <a:effectLst/>
                <a:uFillTx/>
                <a:latin typeface="Calibri"/>
              </a:rPr>
              <a:t>📦  Modules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58"/>
          <p:cNvSpPr/>
          <p:nvPr/>
        </p:nvSpPr>
        <p:spPr>
          <a:xfrm>
            <a:off x="411480" y="626364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2A3A58"/>
                </a:solidFill>
                <a:effectLst/>
                <a:uFillTx/>
                <a:latin typeface="Calibri"/>
              </a:rPr>
              <a:t>B.Tech Final Year Project  ·  Computer Science &amp; Engineering  · 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6098400" cy="4968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2"/>
          <p:cNvSpPr/>
          <p:nvPr/>
        </p:nvSpPr>
        <p:spPr>
          <a:xfrm>
            <a:off x="6099120" y="0"/>
            <a:ext cx="6089040" cy="4968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3"/>
          <p:cNvSpPr/>
          <p:nvPr/>
        </p:nvSpPr>
        <p:spPr>
          <a:xfrm>
            <a:off x="411480" y="109800"/>
            <a:ext cx="54000" cy="23688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411480" y="109800"/>
            <a:ext cx="3199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  SYSTEM DESIGN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411480" y="43884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System Design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6"/>
          <p:cNvSpPr/>
          <p:nvPr/>
        </p:nvSpPr>
        <p:spPr>
          <a:xfrm>
            <a:off x="411480" y="1188720"/>
            <a:ext cx="11365200" cy="223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7"/>
          <p:cNvSpPr/>
          <p:nvPr/>
        </p:nvSpPr>
        <p:spPr>
          <a:xfrm>
            <a:off x="411480" y="1188720"/>
            <a:ext cx="2010960" cy="223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411480" y="126180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Key system characteristics &amp; technology stack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9"/>
          <p:cNvSpPr/>
          <p:nvPr/>
        </p:nvSpPr>
        <p:spPr>
          <a:xfrm>
            <a:off x="384120" y="1691640"/>
            <a:ext cx="2285280" cy="21024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10"/>
          <p:cNvSpPr/>
          <p:nvPr/>
        </p:nvSpPr>
        <p:spPr>
          <a:xfrm>
            <a:off x="384120" y="1691640"/>
            <a:ext cx="2285280" cy="3600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1"/>
          <p:cNvSpPr/>
          <p:nvPr/>
        </p:nvSpPr>
        <p:spPr>
          <a:xfrm>
            <a:off x="493920" y="18014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🎤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2"/>
          <p:cNvSpPr/>
          <p:nvPr/>
        </p:nvSpPr>
        <p:spPr>
          <a:xfrm>
            <a:off x="493920" y="2331720"/>
            <a:ext cx="2056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Offline ASR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3"/>
          <p:cNvSpPr/>
          <p:nvPr/>
        </p:nvSpPr>
        <p:spPr>
          <a:xfrm>
            <a:off x="493920" y="2679120"/>
            <a:ext cx="20566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Whisper Tiny model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runs 100% on-device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4"/>
          <p:cNvSpPr/>
          <p:nvPr/>
        </p:nvSpPr>
        <p:spPr>
          <a:xfrm>
            <a:off x="2816280" y="1691640"/>
            <a:ext cx="2285280" cy="21024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15"/>
          <p:cNvSpPr/>
          <p:nvPr/>
        </p:nvSpPr>
        <p:spPr>
          <a:xfrm>
            <a:off x="2816280" y="1691640"/>
            <a:ext cx="2285280" cy="3600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6"/>
          <p:cNvSpPr/>
          <p:nvPr/>
        </p:nvSpPr>
        <p:spPr>
          <a:xfrm>
            <a:off x="2926080" y="18014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🧠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7"/>
          <p:cNvSpPr/>
          <p:nvPr/>
        </p:nvSpPr>
        <p:spPr>
          <a:xfrm>
            <a:off x="2926080" y="2331720"/>
            <a:ext cx="2056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85CFF"/>
                </a:solidFill>
                <a:effectLst/>
                <a:uFillTx/>
                <a:latin typeface="Calibri"/>
              </a:rPr>
              <a:t>NLP Routing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8"/>
          <p:cNvSpPr/>
          <p:nvPr/>
        </p:nvSpPr>
        <p:spPr>
          <a:xfrm>
            <a:off x="2926080" y="2679120"/>
            <a:ext cx="20566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spaCy + RapidFuzz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5-stage extraction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19"/>
          <p:cNvSpPr/>
          <p:nvPr/>
        </p:nvSpPr>
        <p:spPr>
          <a:xfrm>
            <a:off x="5248800" y="1691640"/>
            <a:ext cx="2285280" cy="21024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20"/>
          <p:cNvSpPr/>
          <p:nvPr/>
        </p:nvSpPr>
        <p:spPr>
          <a:xfrm>
            <a:off x="5248800" y="1691640"/>
            <a:ext cx="2285280" cy="36000"/>
          </a:xfrm>
          <a:prstGeom prst="rect">
            <a:avLst/>
          </a:prstGeom>
          <a:solidFill>
            <a:srgbClr val="00FF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1"/>
          <p:cNvSpPr/>
          <p:nvPr/>
        </p:nvSpPr>
        <p:spPr>
          <a:xfrm>
            <a:off x="5358240" y="18014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🗄️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2"/>
          <p:cNvSpPr/>
          <p:nvPr/>
        </p:nvSpPr>
        <p:spPr>
          <a:xfrm>
            <a:off x="5358240" y="2331720"/>
            <a:ext cx="2056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FFB3"/>
                </a:solidFill>
                <a:effectLst/>
                <a:uFillTx/>
                <a:latin typeface="Calibri"/>
              </a:rPr>
              <a:t>Polyglot Database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3"/>
          <p:cNvSpPr/>
          <p:nvPr/>
        </p:nvSpPr>
        <p:spPr>
          <a:xfrm>
            <a:off x="5358240" y="2679120"/>
            <a:ext cx="20566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Neo4j graph +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MySQL relational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24"/>
          <p:cNvSpPr/>
          <p:nvPr/>
        </p:nvSpPr>
        <p:spPr>
          <a:xfrm>
            <a:off x="384120" y="3950280"/>
            <a:ext cx="2285280" cy="21024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25"/>
          <p:cNvSpPr/>
          <p:nvPr/>
        </p:nvSpPr>
        <p:spPr>
          <a:xfrm>
            <a:off x="384120" y="3950280"/>
            <a:ext cx="2285280" cy="36000"/>
          </a:xfrm>
          <a:prstGeom prst="rect">
            <a:avLst/>
          </a:prstGeom>
          <a:solidFill>
            <a:srgbClr val="FFC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6"/>
          <p:cNvSpPr/>
          <p:nvPr/>
        </p:nvSpPr>
        <p:spPr>
          <a:xfrm>
            <a:off x="493920" y="40600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🔊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7"/>
          <p:cNvSpPr/>
          <p:nvPr/>
        </p:nvSpPr>
        <p:spPr>
          <a:xfrm>
            <a:off x="493920" y="4590360"/>
            <a:ext cx="2056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C700"/>
                </a:solidFill>
                <a:effectLst/>
                <a:uFillTx/>
                <a:latin typeface="Calibri"/>
              </a:rPr>
              <a:t>Offline TTS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8"/>
          <p:cNvSpPr/>
          <p:nvPr/>
        </p:nvSpPr>
        <p:spPr>
          <a:xfrm>
            <a:off x="493920" y="4937760"/>
            <a:ext cx="20566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Kokoro-82M ONNX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speaks results aloud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29"/>
          <p:cNvSpPr/>
          <p:nvPr/>
        </p:nvSpPr>
        <p:spPr>
          <a:xfrm>
            <a:off x="2816280" y="3950280"/>
            <a:ext cx="2285280" cy="21024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30"/>
          <p:cNvSpPr/>
          <p:nvPr/>
        </p:nvSpPr>
        <p:spPr>
          <a:xfrm>
            <a:off x="2816280" y="3950280"/>
            <a:ext cx="2285280" cy="3600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31"/>
          <p:cNvSpPr/>
          <p:nvPr/>
        </p:nvSpPr>
        <p:spPr>
          <a:xfrm>
            <a:off x="2926080" y="40600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🎟️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32"/>
          <p:cNvSpPr/>
          <p:nvPr/>
        </p:nvSpPr>
        <p:spPr>
          <a:xfrm>
            <a:off x="2926080" y="4590360"/>
            <a:ext cx="2056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Ticket Booking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33"/>
          <p:cNvSpPr/>
          <p:nvPr/>
        </p:nvSpPr>
        <p:spPr>
          <a:xfrm>
            <a:off x="2926080" y="4937760"/>
            <a:ext cx="20566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Atomic transactions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&amp; seat locking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34"/>
          <p:cNvSpPr/>
          <p:nvPr/>
        </p:nvSpPr>
        <p:spPr>
          <a:xfrm>
            <a:off x="5248800" y="3950280"/>
            <a:ext cx="2285280" cy="21024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Rectangle 35"/>
          <p:cNvSpPr/>
          <p:nvPr/>
        </p:nvSpPr>
        <p:spPr>
          <a:xfrm>
            <a:off x="5248800" y="3950280"/>
            <a:ext cx="2285280" cy="3600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36"/>
          <p:cNvSpPr/>
          <p:nvPr/>
        </p:nvSpPr>
        <p:spPr>
          <a:xfrm>
            <a:off x="5358240" y="40600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🔐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7"/>
          <p:cNvSpPr/>
          <p:nvPr/>
        </p:nvSpPr>
        <p:spPr>
          <a:xfrm>
            <a:off x="5358240" y="4590360"/>
            <a:ext cx="2056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85CFF"/>
                </a:solidFill>
                <a:effectLst/>
                <a:uFillTx/>
                <a:latin typeface="Calibri"/>
              </a:rPr>
              <a:t>Secure Auth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8"/>
          <p:cNvSpPr/>
          <p:nvPr/>
        </p:nvSpPr>
        <p:spPr>
          <a:xfrm>
            <a:off x="5358240" y="4937760"/>
            <a:ext cx="20566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05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bcrypt hashing +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session management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39"/>
          <p:cNvSpPr/>
          <p:nvPr/>
        </p:nvSpPr>
        <p:spPr>
          <a:xfrm>
            <a:off x="7818120" y="1371600"/>
            <a:ext cx="41140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Tech Stack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40"/>
          <p:cNvSpPr/>
          <p:nvPr/>
        </p:nvSpPr>
        <p:spPr>
          <a:xfrm>
            <a:off x="7818120" y="1737360"/>
            <a:ext cx="4068360" cy="223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ectangle 41"/>
          <p:cNvSpPr/>
          <p:nvPr/>
        </p:nvSpPr>
        <p:spPr>
          <a:xfrm>
            <a:off x="7818120" y="1856160"/>
            <a:ext cx="4068360" cy="52956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ectangle 42"/>
          <p:cNvSpPr/>
          <p:nvPr/>
        </p:nvSpPr>
        <p:spPr>
          <a:xfrm>
            <a:off x="7818120" y="1856160"/>
            <a:ext cx="54000" cy="52956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43"/>
          <p:cNvSpPr/>
          <p:nvPr/>
        </p:nvSpPr>
        <p:spPr>
          <a:xfrm>
            <a:off x="7955280" y="192024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Backend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44"/>
          <p:cNvSpPr/>
          <p:nvPr/>
        </p:nvSpPr>
        <p:spPr>
          <a:xfrm>
            <a:off x="7955280" y="2121480"/>
            <a:ext cx="37940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Python 3  ·  Flask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45"/>
          <p:cNvSpPr/>
          <p:nvPr/>
        </p:nvSpPr>
        <p:spPr>
          <a:xfrm>
            <a:off x="7818120" y="2459880"/>
            <a:ext cx="4068360" cy="52956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ectangle 46"/>
          <p:cNvSpPr/>
          <p:nvPr/>
        </p:nvSpPr>
        <p:spPr>
          <a:xfrm>
            <a:off x="7818120" y="2459880"/>
            <a:ext cx="54000" cy="52956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47"/>
          <p:cNvSpPr/>
          <p:nvPr/>
        </p:nvSpPr>
        <p:spPr>
          <a:xfrm>
            <a:off x="7955280" y="252360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85CFF"/>
                </a:solidFill>
                <a:effectLst/>
                <a:uFillTx/>
                <a:latin typeface="Calibri"/>
              </a:rPr>
              <a:t>AI / Speech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48"/>
          <p:cNvSpPr/>
          <p:nvPr/>
        </p:nvSpPr>
        <p:spPr>
          <a:xfrm>
            <a:off x="7955280" y="2724840"/>
            <a:ext cx="37940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Whisper ASR  ·  Kokoro TTS  ·  ONNX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49"/>
          <p:cNvSpPr/>
          <p:nvPr/>
        </p:nvSpPr>
        <p:spPr>
          <a:xfrm>
            <a:off x="7818120" y="3063240"/>
            <a:ext cx="4068360" cy="52956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50"/>
          <p:cNvSpPr/>
          <p:nvPr/>
        </p:nvSpPr>
        <p:spPr>
          <a:xfrm>
            <a:off x="7818120" y="3063240"/>
            <a:ext cx="54000" cy="529560"/>
          </a:xfrm>
          <a:prstGeom prst="rect">
            <a:avLst/>
          </a:prstGeom>
          <a:solidFill>
            <a:srgbClr val="00FF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51"/>
          <p:cNvSpPr/>
          <p:nvPr/>
        </p:nvSpPr>
        <p:spPr>
          <a:xfrm>
            <a:off x="7955280" y="312732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FFB3"/>
                </a:solidFill>
                <a:effectLst/>
                <a:uFillTx/>
                <a:latin typeface="Calibri"/>
              </a:rPr>
              <a:t>NLP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52"/>
          <p:cNvSpPr/>
          <p:nvPr/>
        </p:nvSpPr>
        <p:spPr>
          <a:xfrm>
            <a:off x="7955280" y="3328560"/>
            <a:ext cx="37940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spaCy  ·  RapidFuzz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53"/>
          <p:cNvSpPr/>
          <p:nvPr/>
        </p:nvSpPr>
        <p:spPr>
          <a:xfrm>
            <a:off x="7818120" y="3666600"/>
            <a:ext cx="4068360" cy="52956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54"/>
          <p:cNvSpPr/>
          <p:nvPr/>
        </p:nvSpPr>
        <p:spPr>
          <a:xfrm>
            <a:off x="7818120" y="3666600"/>
            <a:ext cx="54000" cy="529560"/>
          </a:xfrm>
          <a:prstGeom prst="rect">
            <a:avLst/>
          </a:prstGeom>
          <a:solidFill>
            <a:srgbClr val="FFC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55"/>
          <p:cNvSpPr/>
          <p:nvPr/>
        </p:nvSpPr>
        <p:spPr>
          <a:xfrm>
            <a:off x="7955280" y="373068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C700"/>
                </a:solidFill>
                <a:effectLst/>
                <a:uFillTx/>
                <a:latin typeface="Calibri"/>
              </a:rPr>
              <a:t>Databases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56"/>
          <p:cNvSpPr/>
          <p:nvPr/>
        </p:nvSpPr>
        <p:spPr>
          <a:xfrm>
            <a:off x="7955280" y="3931920"/>
            <a:ext cx="37940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Neo4j  ·  MySQL 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57"/>
          <p:cNvSpPr/>
          <p:nvPr/>
        </p:nvSpPr>
        <p:spPr>
          <a:xfrm>
            <a:off x="7818120" y="4270320"/>
            <a:ext cx="4068360" cy="52956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58"/>
          <p:cNvSpPr/>
          <p:nvPr/>
        </p:nvSpPr>
        <p:spPr>
          <a:xfrm>
            <a:off x="7818120" y="4270320"/>
            <a:ext cx="54000" cy="52956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59"/>
          <p:cNvSpPr/>
          <p:nvPr/>
        </p:nvSpPr>
        <p:spPr>
          <a:xfrm>
            <a:off x="7955280" y="433440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Frontend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60"/>
          <p:cNvSpPr/>
          <p:nvPr/>
        </p:nvSpPr>
        <p:spPr>
          <a:xfrm>
            <a:off x="7955280" y="4535280"/>
            <a:ext cx="37940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HTML5  ·  CSS3  ·  JS  ·  PWA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61"/>
          <p:cNvSpPr/>
          <p:nvPr/>
        </p:nvSpPr>
        <p:spPr>
          <a:xfrm>
            <a:off x="7818120" y="4873680"/>
            <a:ext cx="4068360" cy="52956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62"/>
          <p:cNvSpPr/>
          <p:nvPr/>
        </p:nvSpPr>
        <p:spPr>
          <a:xfrm>
            <a:off x="7818120" y="4873680"/>
            <a:ext cx="54000" cy="52956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63"/>
          <p:cNvSpPr/>
          <p:nvPr/>
        </p:nvSpPr>
        <p:spPr>
          <a:xfrm>
            <a:off x="7955280" y="493776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85CFF"/>
                </a:solidFill>
                <a:effectLst/>
                <a:uFillTx/>
                <a:latin typeface="Calibri"/>
              </a:rPr>
              <a:t>Security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64"/>
          <p:cNvSpPr/>
          <p:nvPr/>
        </p:nvSpPr>
        <p:spPr>
          <a:xfrm>
            <a:off x="7955280" y="5139000"/>
            <a:ext cx="37940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bcrypt  ·  Parameterised SQL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65"/>
          <p:cNvSpPr/>
          <p:nvPr/>
        </p:nvSpPr>
        <p:spPr>
          <a:xfrm>
            <a:off x="7818120" y="5477400"/>
            <a:ext cx="4068360" cy="52956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66"/>
          <p:cNvSpPr/>
          <p:nvPr/>
        </p:nvSpPr>
        <p:spPr>
          <a:xfrm>
            <a:off x="7818120" y="5477400"/>
            <a:ext cx="54000" cy="529560"/>
          </a:xfrm>
          <a:prstGeom prst="rect">
            <a:avLst/>
          </a:prstGeom>
          <a:solidFill>
            <a:srgbClr val="00FF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67"/>
          <p:cNvSpPr/>
          <p:nvPr/>
        </p:nvSpPr>
        <p:spPr>
          <a:xfrm>
            <a:off x="7955280" y="5541120"/>
            <a:ext cx="1370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FFB3"/>
                </a:solidFill>
                <a:effectLst/>
                <a:uFillTx/>
                <a:latin typeface="Calibri"/>
              </a:rPr>
              <a:t>Testing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68"/>
          <p:cNvSpPr/>
          <p:nvPr/>
        </p:nvSpPr>
        <p:spPr>
          <a:xfrm>
            <a:off x="7955280" y="5742360"/>
            <a:ext cx="37940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unittest  ·  mock patching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0" y="0"/>
            <a:ext cx="6098400" cy="4968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6099120" y="0"/>
            <a:ext cx="6089040" cy="4968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3"/>
          <p:cNvSpPr/>
          <p:nvPr/>
        </p:nvSpPr>
        <p:spPr>
          <a:xfrm>
            <a:off x="411480" y="109800"/>
            <a:ext cx="54000" cy="23688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4"/>
          <p:cNvSpPr/>
          <p:nvPr/>
        </p:nvSpPr>
        <p:spPr>
          <a:xfrm>
            <a:off x="411480" y="109800"/>
            <a:ext cx="3199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85CFF"/>
                </a:solidFill>
                <a:effectLst/>
                <a:uFillTx/>
                <a:latin typeface="Calibri"/>
              </a:rPr>
              <a:t>  ARCHITECTURAL DESIGN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5"/>
          <p:cNvSpPr/>
          <p:nvPr/>
        </p:nvSpPr>
        <p:spPr>
          <a:xfrm>
            <a:off x="411480" y="43884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Architectural Design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6"/>
          <p:cNvSpPr/>
          <p:nvPr/>
        </p:nvSpPr>
        <p:spPr>
          <a:xfrm>
            <a:off x="411480" y="1188720"/>
            <a:ext cx="11365200" cy="223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7"/>
          <p:cNvSpPr/>
          <p:nvPr/>
        </p:nvSpPr>
        <p:spPr>
          <a:xfrm>
            <a:off x="411480" y="1188720"/>
            <a:ext cx="2010960" cy="2232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8"/>
          <p:cNvSpPr/>
          <p:nvPr/>
        </p:nvSpPr>
        <p:spPr>
          <a:xfrm>
            <a:off x="411480" y="1261800"/>
            <a:ext cx="9143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Four-tier layered architecture — all running on a single host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9"/>
          <p:cNvSpPr/>
          <p:nvPr/>
        </p:nvSpPr>
        <p:spPr>
          <a:xfrm>
            <a:off x="384120" y="1691640"/>
            <a:ext cx="11420280" cy="9594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10"/>
          <p:cNvSpPr/>
          <p:nvPr/>
        </p:nvSpPr>
        <p:spPr>
          <a:xfrm>
            <a:off x="384120" y="1691640"/>
            <a:ext cx="11420280" cy="3600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11"/>
          <p:cNvSpPr/>
          <p:nvPr/>
        </p:nvSpPr>
        <p:spPr>
          <a:xfrm>
            <a:off x="384120" y="1691640"/>
            <a:ext cx="63360" cy="95940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12"/>
          <p:cNvSpPr/>
          <p:nvPr/>
        </p:nvSpPr>
        <p:spPr>
          <a:xfrm>
            <a:off x="594360" y="1728360"/>
            <a:ext cx="3199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TIER 1  —  Presentation Layer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3"/>
          <p:cNvSpPr/>
          <p:nvPr/>
        </p:nvSpPr>
        <p:spPr>
          <a:xfrm>
            <a:off x="594360" y="2011680"/>
            <a:ext cx="47541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🌐  Web Browser  (PWA)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4"/>
          <p:cNvSpPr/>
          <p:nvPr/>
        </p:nvSpPr>
        <p:spPr>
          <a:xfrm>
            <a:off x="5669280" y="1965960"/>
            <a:ext cx="60343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8E4F4"/>
                </a:solidFill>
                <a:effectLst/>
                <a:uFillTx/>
                <a:latin typeface="Calibri"/>
              </a:rPr>
              <a:t>HTML5 · CSS3 · JS · Web Audio API · Service Worker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5"/>
          <p:cNvSpPr/>
          <p:nvPr/>
        </p:nvSpPr>
        <p:spPr>
          <a:xfrm>
            <a:off x="5897880" y="265176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A3A58"/>
                </a:solidFill>
                <a:effectLst/>
                <a:uFillTx/>
                <a:latin typeface="Calibri"/>
              </a:rPr>
              <a:t>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16"/>
          <p:cNvSpPr/>
          <p:nvPr/>
        </p:nvSpPr>
        <p:spPr>
          <a:xfrm>
            <a:off x="384120" y="2880360"/>
            <a:ext cx="11420280" cy="9594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17"/>
          <p:cNvSpPr/>
          <p:nvPr/>
        </p:nvSpPr>
        <p:spPr>
          <a:xfrm>
            <a:off x="384120" y="2880360"/>
            <a:ext cx="11420280" cy="3600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ectangle 18"/>
          <p:cNvSpPr/>
          <p:nvPr/>
        </p:nvSpPr>
        <p:spPr>
          <a:xfrm>
            <a:off x="384120" y="2880360"/>
            <a:ext cx="63360" cy="95940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9"/>
          <p:cNvSpPr/>
          <p:nvPr/>
        </p:nvSpPr>
        <p:spPr>
          <a:xfrm>
            <a:off x="594360" y="2917080"/>
            <a:ext cx="3199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TIER 2  —  Application Layer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0"/>
          <p:cNvSpPr/>
          <p:nvPr/>
        </p:nvSpPr>
        <p:spPr>
          <a:xfrm>
            <a:off x="594360" y="3200400"/>
            <a:ext cx="47541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A85CFF"/>
                </a:solidFill>
                <a:effectLst/>
                <a:uFillTx/>
                <a:latin typeface="Calibri"/>
              </a:rPr>
              <a:t>⚙️  Flask Server  :5000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21"/>
          <p:cNvSpPr/>
          <p:nvPr/>
        </p:nvSpPr>
        <p:spPr>
          <a:xfrm>
            <a:off x="5669280" y="3154680"/>
            <a:ext cx="6034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8E4F4"/>
                </a:solidFill>
                <a:effectLst/>
                <a:uFillTx/>
                <a:latin typeface="Calibri"/>
              </a:rPr>
              <a:t>REST API · Whisper ASR · spaCy NLP · RapidFuzz · Kokoro TTS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2"/>
          <p:cNvSpPr/>
          <p:nvPr/>
        </p:nvSpPr>
        <p:spPr>
          <a:xfrm>
            <a:off x="5897880" y="384048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A3A58"/>
                </a:solidFill>
                <a:effectLst/>
                <a:uFillTx/>
                <a:latin typeface="Calibri"/>
              </a:rPr>
              <a:t>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23"/>
          <p:cNvSpPr/>
          <p:nvPr/>
        </p:nvSpPr>
        <p:spPr>
          <a:xfrm>
            <a:off x="384120" y="4069080"/>
            <a:ext cx="11420280" cy="9594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24"/>
          <p:cNvSpPr/>
          <p:nvPr/>
        </p:nvSpPr>
        <p:spPr>
          <a:xfrm>
            <a:off x="384120" y="4069080"/>
            <a:ext cx="11420280" cy="36000"/>
          </a:xfrm>
          <a:prstGeom prst="rect">
            <a:avLst/>
          </a:prstGeom>
          <a:solidFill>
            <a:srgbClr val="00FF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ectangle 25"/>
          <p:cNvSpPr/>
          <p:nvPr/>
        </p:nvSpPr>
        <p:spPr>
          <a:xfrm>
            <a:off x="384120" y="4069080"/>
            <a:ext cx="63360" cy="959400"/>
          </a:xfrm>
          <a:prstGeom prst="rect">
            <a:avLst/>
          </a:prstGeom>
          <a:solidFill>
            <a:srgbClr val="00FF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26"/>
          <p:cNvSpPr/>
          <p:nvPr/>
        </p:nvSpPr>
        <p:spPr>
          <a:xfrm>
            <a:off x="594360" y="4105800"/>
            <a:ext cx="3199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TIER 3  —  Data Layer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7"/>
          <p:cNvSpPr/>
          <p:nvPr/>
        </p:nvSpPr>
        <p:spPr>
          <a:xfrm>
            <a:off x="594360" y="4389120"/>
            <a:ext cx="47541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FFB3"/>
                </a:solidFill>
                <a:effectLst/>
                <a:uFillTx/>
                <a:latin typeface="Calibri"/>
              </a:rPr>
              <a:t>🗄️  Neo4j  :7687   +   MySQL  :3306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8"/>
          <p:cNvSpPr/>
          <p:nvPr/>
        </p:nvSpPr>
        <p:spPr>
          <a:xfrm>
            <a:off x="5669280" y="4343400"/>
            <a:ext cx="6034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8E4F4"/>
                </a:solidFill>
                <a:effectLst/>
                <a:uFillTx/>
                <a:latin typeface="Calibri"/>
              </a:rPr>
              <a:t>Graph station topology (Neo4j)   ·   Schedules, Bookings, Users (MySQL)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9"/>
          <p:cNvSpPr/>
          <p:nvPr/>
        </p:nvSpPr>
        <p:spPr>
          <a:xfrm>
            <a:off x="5897880" y="5029200"/>
            <a:ext cx="456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A3A58"/>
                </a:solidFill>
                <a:effectLst/>
                <a:uFillTx/>
                <a:latin typeface="Calibri"/>
              </a:rPr>
              <a:t>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30"/>
          <p:cNvSpPr/>
          <p:nvPr/>
        </p:nvSpPr>
        <p:spPr>
          <a:xfrm>
            <a:off x="384120" y="5257800"/>
            <a:ext cx="11420280" cy="9594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Rectangle 31"/>
          <p:cNvSpPr/>
          <p:nvPr/>
        </p:nvSpPr>
        <p:spPr>
          <a:xfrm>
            <a:off x="384120" y="5257800"/>
            <a:ext cx="11420280" cy="36000"/>
          </a:xfrm>
          <a:prstGeom prst="rect">
            <a:avLst/>
          </a:prstGeom>
          <a:solidFill>
            <a:srgbClr val="FFC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32"/>
          <p:cNvSpPr/>
          <p:nvPr/>
        </p:nvSpPr>
        <p:spPr>
          <a:xfrm>
            <a:off x="384120" y="5257800"/>
            <a:ext cx="63360" cy="959400"/>
          </a:xfrm>
          <a:prstGeom prst="rect">
            <a:avLst/>
          </a:prstGeom>
          <a:solidFill>
            <a:srgbClr val="FFC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1680" tIns="45000" rIns="3168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33"/>
          <p:cNvSpPr/>
          <p:nvPr/>
        </p:nvSpPr>
        <p:spPr>
          <a:xfrm>
            <a:off x="594360" y="5294520"/>
            <a:ext cx="3199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TIER 4  —  AI / ML Layer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34"/>
          <p:cNvSpPr/>
          <p:nvPr/>
        </p:nvSpPr>
        <p:spPr>
          <a:xfrm>
            <a:off x="594360" y="5577840"/>
            <a:ext cx="47541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C700"/>
                </a:solidFill>
                <a:effectLst/>
                <a:uFillTx/>
                <a:latin typeface="Calibri"/>
              </a:rPr>
              <a:t>🤖  Offline ML Models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35"/>
          <p:cNvSpPr/>
          <p:nvPr/>
        </p:nvSpPr>
        <p:spPr>
          <a:xfrm>
            <a:off x="5669280" y="5532120"/>
            <a:ext cx="6034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8E4F4"/>
                </a:solidFill>
                <a:effectLst/>
                <a:uFillTx/>
                <a:latin typeface="Calibri"/>
              </a:rPr>
              <a:t>Whisper Tiny (~150 MB)   ·   Kokoro-82M ONNX (~310 MB)   ·   spaCy (~12 MB)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36"/>
          <p:cNvSpPr/>
          <p:nvPr/>
        </p:nvSpPr>
        <p:spPr>
          <a:xfrm>
            <a:off x="384120" y="6473880"/>
            <a:ext cx="11420280" cy="291960"/>
          </a:xfrm>
          <a:prstGeom prst="rect">
            <a:avLst/>
          </a:prstGeom>
          <a:solidFill>
            <a:srgbClr val="10062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37"/>
          <p:cNvSpPr/>
          <p:nvPr/>
        </p:nvSpPr>
        <p:spPr>
          <a:xfrm>
            <a:off x="384120" y="6473880"/>
            <a:ext cx="54000" cy="29196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38"/>
          <p:cNvSpPr/>
          <p:nvPr/>
        </p:nvSpPr>
        <p:spPr>
          <a:xfrm>
            <a:off x="457200" y="6492240"/>
            <a:ext cx="11246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  Browser ↔ Flask via HTTP/REST   ·   Flask ↔ Neo4j via Bolt   ·   Flask ↔ MySQL via TCP   ·   ML models run in-process (no network hop)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0" y="0"/>
            <a:ext cx="6098400" cy="49680"/>
          </a:xfrm>
          <a:prstGeom prst="rect">
            <a:avLst/>
          </a:prstGeom>
          <a:solidFill>
            <a:srgbClr val="00FF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Rectangle 2"/>
          <p:cNvSpPr/>
          <p:nvPr/>
        </p:nvSpPr>
        <p:spPr>
          <a:xfrm>
            <a:off x="6099120" y="0"/>
            <a:ext cx="6089040" cy="49680"/>
          </a:xfrm>
          <a:prstGeom prst="rect">
            <a:avLst/>
          </a:prstGeom>
          <a:solidFill>
            <a:srgbClr val="00FF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Rectangle 3"/>
          <p:cNvSpPr/>
          <p:nvPr/>
        </p:nvSpPr>
        <p:spPr>
          <a:xfrm>
            <a:off x="411480" y="109800"/>
            <a:ext cx="54000" cy="236880"/>
          </a:xfrm>
          <a:prstGeom prst="rect">
            <a:avLst/>
          </a:prstGeom>
          <a:solidFill>
            <a:srgbClr val="00FF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4"/>
          <p:cNvSpPr/>
          <p:nvPr/>
        </p:nvSpPr>
        <p:spPr>
          <a:xfrm>
            <a:off x="411480" y="109800"/>
            <a:ext cx="3199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00FFB3"/>
                </a:solidFill>
                <a:effectLst/>
                <a:uFillTx/>
                <a:latin typeface="Calibri"/>
              </a:rPr>
              <a:t>  DATA FLOW DIAGRAM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5"/>
          <p:cNvSpPr/>
          <p:nvPr/>
        </p:nvSpPr>
        <p:spPr>
          <a:xfrm>
            <a:off x="411480" y="438840"/>
            <a:ext cx="82288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  FLOW DIAGRAM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6"/>
          <p:cNvSpPr/>
          <p:nvPr/>
        </p:nvSpPr>
        <p:spPr>
          <a:xfrm>
            <a:off x="411480" y="1188720"/>
            <a:ext cx="11365200" cy="223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ectangle 7"/>
          <p:cNvSpPr/>
          <p:nvPr/>
        </p:nvSpPr>
        <p:spPr>
          <a:xfrm>
            <a:off x="411480" y="1188720"/>
            <a:ext cx="2010960" cy="22320"/>
          </a:xfrm>
          <a:prstGeom prst="rect">
            <a:avLst/>
          </a:prstGeom>
          <a:solidFill>
            <a:srgbClr val="00FF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8"/>
          <p:cNvSpPr/>
          <p:nvPr/>
        </p:nvSpPr>
        <p:spPr>
          <a:xfrm>
            <a:off x="411480" y="1261800"/>
            <a:ext cx="10057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A simple, non-technical view of how a user's voice request is processed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9"/>
          <p:cNvSpPr/>
          <p:nvPr/>
        </p:nvSpPr>
        <p:spPr>
          <a:xfrm>
            <a:off x="914400" y="2286000"/>
            <a:ext cx="2925360" cy="1553760"/>
          </a:xfrm>
          <a:prstGeom prst="roundRect">
            <a:avLst>
              <a:gd name="adj" fmla="val 16667"/>
            </a:avLst>
          </a:prstGeom>
          <a:solidFill>
            <a:srgbClr val="182138"/>
          </a:solidFill>
          <a:ln w="2540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10"/>
          <p:cNvSpPr/>
          <p:nvPr/>
        </p:nvSpPr>
        <p:spPr>
          <a:xfrm>
            <a:off x="914400" y="2423160"/>
            <a:ext cx="2925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🎤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1"/>
          <p:cNvSpPr/>
          <p:nvPr/>
        </p:nvSpPr>
        <p:spPr>
          <a:xfrm>
            <a:off x="914400" y="292608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1. Voice Input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12"/>
          <p:cNvSpPr/>
          <p:nvPr/>
        </p:nvSpPr>
        <p:spPr>
          <a:xfrm>
            <a:off x="1005840" y="3291840"/>
            <a:ext cx="2742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User speaks their travel request into the microphone.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Right Arrow 13"/>
          <p:cNvSpPr/>
          <p:nvPr/>
        </p:nvSpPr>
        <p:spPr>
          <a:xfrm>
            <a:off x="4023360" y="2834640"/>
            <a:ext cx="547920" cy="456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8E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Rounded Rectangle 14"/>
          <p:cNvSpPr/>
          <p:nvPr/>
        </p:nvSpPr>
        <p:spPr>
          <a:xfrm>
            <a:off x="4754880" y="2286000"/>
            <a:ext cx="2925360" cy="1553760"/>
          </a:xfrm>
          <a:prstGeom prst="roundRect">
            <a:avLst>
              <a:gd name="adj" fmla="val 16667"/>
            </a:avLst>
          </a:prstGeom>
          <a:solidFill>
            <a:srgbClr val="182138"/>
          </a:solidFill>
          <a:ln w="25400">
            <a:solidFill>
              <a:srgbClr val="A85C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15"/>
          <p:cNvSpPr/>
          <p:nvPr/>
        </p:nvSpPr>
        <p:spPr>
          <a:xfrm>
            <a:off x="4754880" y="2423160"/>
            <a:ext cx="2925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🤖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6"/>
          <p:cNvSpPr/>
          <p:nvPr/>
        </p:nvSpPr>
        <p:spPr>
          <a:xfrm>
            <a:off x="4754880" y="292608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A85CFF"/>
                </a:solidFill>
                <a:effectLst/>
                <a:uFillTx/>
                <a:latin typeface="Calibri"/>
              </a:rPr>
              <a:t>2. Speech to Text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7"/>
          <p:cNvSpPr/>
          <p:nvPr/>
        </p:nvSpPr>
        <p:spPr>
          <a:xfrm>
            <a:off x="4846320" y="3291840"/>
            <a:ext cx="2742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AI converts the spoken audio into written text.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Right Arrow 18"/>
          <p:cNvSpPr/>
          <p:nvPr/>
        </p:nvSpPr>
        <p:spPr>
          <a:xfrm>
            <a:off x="7863840" y="2834640"/>
            <a:ext cx="547920" cy="456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8E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ounded Rectangle 19"/>
          <p:cNvSpPr/>
          <p:nvPr/>
        </p:nvSpPr>
        <p:spPr>
          <a:xfrm>
            <a:off x="8595360" y="2286000"/>
            <a:ext cx="2925360" cy="1553760"/>
          </a:xfrm>
          <a:prstGeom prst="roundRect">
            <a:avLst>
              <a:gd name="adj" fmla="val 16667"/>
            </a:avLst>
          </a:prstGeom>
          <a:solidFill>
            <a:srgbClr val="182138"/>
          </a:solidFill>
          <a:ln w="25400">
            <a:solidFill>
              <a:srgbClr val="00FFB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20"/>
          <p:cNvSpPr/>
          <p:nvPr/>
        </p:nvSpPr>
        <p:spPr>
          <a:xfrm>
            <a:off x="8595360" y="2423160"/>
            <a:ext cx="2925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🧠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21"/>
          <p:cNvSpPr/>
          <p:nvPr/>
        </p:nvSpPr>
        <p:spPr>
          <a:xfrm>
            <a:off x="8595360" y="292608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FFB3"/>
                </a:solidFill>
                <a:effectLst/>
                <a:uFillTx/>
                <a:latin typeface="Calibri"/>
              </a:rPr>
              <a:t>3. AI Understanding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22"/>
          <p:cNvSpPr/>
          <p:nvPr/>
        </p:nvSpPr>
        <p:spPr>
          <a:xfrm>
            <a:off x="8686800" y="3291840"/>
            <a:ext cx="2742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System extracts origin and destination cities from the text.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Down Arrow 23"/>
          <p:cNvSpPr/>
          <p:nvPr/>
        </p:nvSpPr>
        <p:spPr>
          <a:xfrm>
            <a:off x="9784080" y="3977640"/>
            <a:ext cx="547920" cy="456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A8E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Rounded Rectangle 24"/>
          <p:cNvSpPr/>
          <p:nvPr/>
        </p:nvSpPr>
        <p:spPr>
          <a:xfrm>
            <a:off x="8595360" y="4572000"/>
            <a:ext cx="2925360" cy="1553760"/>
          </a:xfrm>
          <a:prstGeom prst="roundRect">
            <a:avLst>
              <a:gd name="adj" fmla="val 16667"/>
            </a:avLst>
          </a:prstGeom>
          <a:solidFill>
            <a:srgbClr val="182138"/>
          </a:solidFill>
          <a:ln w="25400">
            <a:solidFill>
              <a:srgbClr val="FFC7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25"/>
          <p:cNvSpPr/>
          <p:nvPr/>
        </p:nvSpPr>
        <p:spPr>
          <a:xfrm>
            <a:off x="8595360" y="4709160"/>
            <a:ext cx="2925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🗄️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26"/>
          <p:cNvSpPr/>
          <p:nvPr/>
        </p:nvSpPr>
        <p:spPr>
          <a:xfrm>
            <a:off x="8595360" y="521208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C700"/>
                </a:solidFill>
                <a:effectLst/>
                <a:uFillTx/>
                <a:latin typeface="Calibri"/>
              </a:rPr>
              <a:t>4. Database Search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27"/>
          <p:cNvSpPr/>
          <p:nvPr/>
        </p:nvSpPr>
        <p:spPr>
          <a:xfrm>
            <a:off x="8686800" y="5577840"/>
            <a:ext cx="2742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Searches Neo4j and MySQL for the best routes and tickets.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Left Arrow 28"/>
          <p:cNvSpPr/>
          <p:nvPr/>
        </p:nvSpPr>
        <p:spPr>
          <a:xfrm>
            <a:off x="7863840" y="5120640"/>
            <a:ext cx="547920" cy="45648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7A8E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ounded Rectangle 29"/>
          <p:cNvSpPr/>
          <p:nvPr/>
        </p:nvSpPr>
        <p:spPr>
          <a:xfrm>
            <a:off x="4754880" y="4572000"/>
            <a:ext cx="2925360" cy="1553760"/>
          </a:xfrm>
          <a:prstGeom prst="roundRect">
            <a:avLst>
              <a:gd name="adj" fmla="val 16667"/>
            </a:avLst>
          </a:prstGeom>
          <a:solidFill>
            <a:srgbClr val="182138"/>
          </a:solidFill>
          <a:ln w="25400">
            <a:solidFill>
              <a:srgbClr val="00E5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30"/>
          <p:cNvSpPr/>
          <p:nvPr/>
        </p:nvSpPr>
        <p:spPr>
          <a:xfrm>
            <a:off x="4754880" y="4709160"/>
            <a:ext cx="2925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🔊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31"/>
          <p:cNvSpPr/>
          <p:nvPr/>
        </p:nvSpPr>
        <p:spPr>
          <a:xfrm>
            <a:off x="4754880" y="521208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5. Text to Speech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32"/>
          <p:cNvSpPr/>
          <p:nvPr/>
        </p:nvSpPr>
        <p:spPr>
          <a:xfrm>
            <a:off x="4846320" y="5577840"/>
            <a:ext cx="2742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Generates a natural spoken summary of the results.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Left Arrow 33"/>
          <p:cNvSpPr/>
          <p:nvPr/>
        </p:nvSpPr>
        <p:spPr>
          <a:xfrm>
            <a:off x="4023360" y="5120640"/>
            <a:ext cx="547920" cy="45648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7A8E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Rounded Rectangle 34"/>
          <p:cNvSpPr/>
          <p:nvPr/>
        </p:nvSpPr>
        <p:spPr>
          <a:xfrm>
            <a:off x="914400" y="4572000"/>
            <a:ext cx="2925360" cy="1553760"/>
          </a:xfrm>
          <a:prstGeom prst="roundRect">
            <a:avLst>
              <a:gd name="adj" fmla="val 16667"/>
            </a:avLst>
          </a:prstGeom>
          <a:solidFill>
            <a:srgbClr val="182138"/>
          </a:solidFill>
          <a:ln w="25400">
            <a:solidFill>
              <a:srgbClr val="00FFB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35"/>
          <p:cNvSpPr/>
          <p:nvPr/>
        </p:nvSpPr>
        <p:spPr>
          <a:xfrm>
            <a:off x="914400" y="4709160"/>
            <a:ext cx="2925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🌐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36"/>
          <p:cNvSpPr/>
          <p:nvPr/>
        </p:nvSpPr>
        <p:spPr>
          <a:xfrm>
            <a:off x="914400" y="5212080"/>
            <a:ext cx="2925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FFB3"/>
                </a:solidFill>
                <a:effectLst/>
                <a:uFillTx/>
                <a:latin typeface="Calibri"/>
              </a:rPr>
              <a:t>6. Results Output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37"/>
          <p:cNvSpPr/>
          <p:nvPr/>
        </p:nvSpPr>
        <p:spPr>
          <a:xfrm>
            <a:off x="1005840" y="5577840"/>
            <a:ext cx="2742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User sees the tickets on screen and hears the spoken response.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1"/>
          <p:cNvSpPr/>
          <p:nvPr/>
        </p:nvSpPr>
        <p:spPr>
          <a:xfrm>
            <a:off x="0" y="0"/>
            <a:ext cx="6098400" cy="49680"/>
          </a:xfrm>
          <a:prstGeom prst="rect">
            <a:avLst/>
          </a:prstGeom>
          <a:solidFill>
            <a:srgbClr val="FFC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ectangle 2"/>
          <p:cNvSpPr/>
          <p:nvPr/>
        </p:nvSpPr>
        <p:spPr>
          <a:xfrm>
            <a:off x="6099120" y="0"/>
            <a:ext cx="6089040" cy="49680"/>
          </a:xfrm>
          <a:prstGeom prst="rect">
            <a:avLst/>
          </a:prstGeom>
          <a:solidFill>
            <a:srgbClr val="FFC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Rectangle 3"/>
          <p:cNvSpPr/>
          <p:nvPr/>
        </p:nvSpPr>
        <p:spPr>
          <a:xfrm>
            <a:off x="411480" y="109800"/>
            <a:ext cx="54000" cy="236880"/>
          </a:xfrm>
          <a:prstGeom prst="rect">
            <a:avLst/>
          </a:prstGeom>
          <a:solidFill>
            <a:srgbClr val="FFC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000" tIns="45000" rIns="27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4"/>
          <p:cNvSpPr/>
          <p:nvPr/>
        </p:nvSpPr>
        <p:spPr>
          <a:xfrm>
            <a:off x="411480" y="109800"/>
            <a:ext cx="3199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C700"/>
                </a:solidFill>
                <a:effectLst/>
                <a:uFillTx/>
                <a:latin typeface="Calibri"/>
              </a:rPr>
              <a:t>  MODULES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411480" y="438840"/>
            <a:ext cx="82288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Modules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6"/>
          <p:cNvSpPr/>
          <p:nvPr/>
        </p:nvSpPr>
        <p:spPr>
          <a:xfrm>
            <a:off x="411480" y="1188720"/>
            <a:ext cx="11365200" cy="22320"/>
          </a:xfrm>
          <a:prstGeom prst="rect">
            <a:avLst/>
          </a:prstGeom>
          <a:solidFill>
            <a:srgbClr val="2A3A5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Rectangle 7"/>
          <p:cNvSpPr/>
          <p:nvPr/>
        </p:nvSpPr>
        <p:spPr>
          <a:xfrm>
            <a:off x="411480" y="1188720"/>
            <a:ext cx="2010960" cy="22320"/>
          </a:xfrm>
          <a:prstGeom prst="rect">
            <a:avLst/>
          </a:prstGeom>
          <a:solidFill>
            <a:srgbClr val="FFC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8"/>
          <p:cNvSpPr/>
          <p:nvPr/>
        </p:nvSpPr>
        <p:spPr>
          <a:xfrm>
            <a:off x="411480" y="1261800"/>
            <a:ext cx="91432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6 core functional modules — each with a single responsibility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9"/>
          <p:cNvSpPr/>
          <p:nvPr/>
        </p:nvSpPr>
        <p:spPr>
          <a:xfrm>
            <a:off x="201240" y="1719000"/>
            <a:ext cx="3748320" cy="22122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Rectangle 10"/>
          <p:cNvSpPr/>
          <p:nvPr/>
        </p:nvSpPr>
        <p:spPr>
          <a:xfrm>
            <a:off x="201240" y="1719000"/>
            <a:ext cx="3748320" cy="3600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Rectangle 11"/>
          <p:cNvSpPr/>
          <p:nvPr/>
        </p:nvSpPr>
        <p:spPr>
          <a:xfrm>
            <a:off x="201240" y="1719000"/>
            <a:ext cx="36000" cy="221220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000" tIns="45000" rIns="18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ectangle 12"/>
          <p:cNvSpPr/>
          <p:nvPr/>
        </p:nvSpPr>
        <p:spPr>
          <a:xfrm>
            <a:off x="292680" y="1810440"/>
            <a:ext cx="419760" cy="41976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13"/>
          <p:cNvSpPr/>
          <p:nvPr/>
        </p:nvSpPr>
        <p:spPr>
          <a:xfrm>
            <a:off x="292680" y="181044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B0F1A"/>
                </a:solidFill>
                <a:effectLst/>
                <a:uFillTx/>
                <a:latin typeface="Calibri"/>
              </a:rPr>
              <a:t>M1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4"/>
          <p:cNvSpPr/>
          <p:nvPr/>
        </p:nvSpPr>
        <p:spPr>
          <a:xfrm>
            <a:off x="795600" y="179208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🎤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5"/>
          <p:cNvSpPr/>
          <p:nvPr/>
        </p:nvSpPr>
        <p:spPr>
          <a:xfrm>
            <a:off x="292680" y="2267640"/>
            <a:ext cx="35654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Speech Recognition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16"/>
          <p:cNvSpPr/>
          <p:nvPr/>
        </p:nvSpPr>
        <p:spPr>
          <a:xfrm>
            <a:off x="292680" y="2597040"/>
            <a:ext cx="3565440" cy="12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Engine: Whisper Tiny (openai-whisper)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Input: WebM audio from browser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Process: WebM → 16kHz PCM → float32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Output: plain-text transcript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100% offline, no cloud API needed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17"/>
          <p:cNvSpPr/>
          <p:nvPr/>
        </p:nvSpPr>
        <p:spPr>
          <a:xfrm>
            <a:off x="4187880" y="1719000"/>
            <a:ext cx="3748320" cy="22122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Rectangle 18"/>
          <p:cNvSpPr/>
          <p:nvPr/>
        </p:nvSpPr>
        <p:spPr>
          <a:xfrm>
            <a:off x="4187880" y="1719000"/>
            <a:ext cx="3748320" cy="3600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Rectangle 19"/>
          <p:cNvSpPr/>
          <p:nvPr/>
        </p:nvSpPr>
        <p:spPr>
          <a:xfrm>
            <a:off x="4187880" y="1719000"/>
            <a:ext cx="36000" cy="221220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000" tIns="45000" rIns="18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Rectangle 20"/>
          <p:cNvSpPr/>
          <p:nvPr/>
        </p:nvSpPr>
        <p:spPr>
          <a:xfrm>
            <a:off x="4279320" y="1810440"/>
            <a:ext cx="419760" cy="41976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21"/>
          <p:cNvSpPr/>
          <p:nvPr/>
        </p:nvSpPr>
        <p:spPr>
          <a:xfrm>
            <a:off x="4279320" y="181044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B0F1A"/>
                </a:solidFill>
                <a:effectLst/>
                <a:uFillTx/>
                <a:latin typeface="Calibri"/>
              </a:rPr>
              <a:t>M2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2"/>
          <p:cNvSpPr/>
          <p:nvPr/>
        </p:nvSpPr>
        <p:spPr>
          <a:xfrm>
            <a:off x="4782240" y="179208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🧠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23"/>
          <p:cNvSpPr/>
          <p:nvPr/>
        </p:nvSpPr>
        <p:spPr>
          <a:xfrm>
            <a:off x="4279320" y="2267640"/>
            <a:ext cx="35654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A85CFF"/>
                </a:solidFill>
                <a:effectLst/>
                <a:uFillTx/>
                <a:latin typeface="Calibri"/>
              </a:rPr>
              <a:t>NLP &amp; Normalisation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4"/>
          <p:cNvSpPr/>
          <p:nvPr/>
        </p:nvSpPr>
        <p:spPr>
          <a:xfrm>
            <a:off x="4279320" y="2597040"/>
            <a:ext cx="3565440" cy="12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spaCy NER for GPE/LOC entity extraction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Exact substring + token fuzzy matching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RapidFuzz Levenshtein ≥ 75% threshold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Preposition &amp; positional assignment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Handles typos: 'mumbay' → 'Mumbai'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25"/>
          <p:cNvSpPr/>
          <p:nvPr/>
        </p:nvSpPr>
        <p:spPr>
          <a:xfrm>
            <a:off x="8165520" y="1719000"/>
            <a:ext cx="3748320" cy="22122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Rectangle 26"/>
          <p:cNvSpPr/>
          <p:nvPr/>
        </p:nvSpPr>
        <p:spPr>
          <a:xfrm>
            <a:off x="8165520" y="1719000"/>
            <a:ext cx="3748320" cy="36000"/>
          </a:xfrm>
          <a:prstGeom prst="rect">
            <a:avLst/>
          </a:prstGeom>
          <a:solidFill>
            <a:srgbClr val="00FF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Rectangle 27"/>
          <p:cNvSpPr/>
          <p:nvPr/>
        </p:nvSpPr>
        <p:spPr>
          <a:xfrm>
            <a:off x="8165520" y="1719000"/>
            <a:ext cx="36000" cy="2212200"/>
          </a:xfrm>
          <a:prstGeom prst="rect">
            <a:avLst/>
          </a:prstGeom>
          <a:solidFill>
            <a:srgbClr val="00FF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000" tIns="45000" rIns="18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Rectangle 28"/>
          <p:cNvSpPr/>
          <p:nvPr/>
        </p:nvSpPr>
        <p:spPr>
          <a:xfrm>
            <a:off x="8256960" y="1810440"/>
            <a:ext cx="419760" cy="419760"/>
          </a:xfrm>
          <a:prstGeom prst="rect">
            <a:avLst/>
          </a:prstGeom>
          <a:solidFill>
            <a:srgbClr val="00FF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29"/>
          <p:cNvSpPr/>
          <p:nvPr/>
        </p:nvSpPr>
        <p:spPr>
          <a:xfrm>
            <a:off x="8256960" y="181044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B0F1A"/>
                </a:solidFill>
                <a:effectLst/>
                <a:uFillTx/>
                <a:latin typeface="Calibri"/>
              </a:rPr>
              <a:t>M3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30"/>
          <p:cNvSpPr/>
          <p:nvPr/>
        </p:nvSpPr>
        <p:spPr>
          <a:xfrm>
            <a:off x="8759880" y="179208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🗄️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31"/>
          <p:cNvSpPr/>
          <p:nvPr/>
        </p:nvSpPr>
        <p:spPr>
          <a:xfrm>
            <a:off x="8256960" y="2267640"/>
            <a:ext cx="35654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FFB3"/>
                </a:solidFill>
                <a:effectLst/>
                <a:uFillTx/>
                <a:latin typeface="Calibri"/>
              </a:rPr>
              <a:t>Polyglot DB Engine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32"/>
          <p:cNvSpPr/>
          <p:nvPr/>
        </p:nvSpPr>
        <p:spPr>
          <a:xfrm>
            <a:off x="8256960" y="2597040"/>
            <a:ext cx="3565440" cy="12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Neo4j: Cypher graph traversal (1–5 hops)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MySQL: schedule + seat lookup by route_id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Multi-leg: per-leg queries, path validation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database.py bridges both DB engines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route_id is the logical join key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33"/>
          <p:cNvSpPr/>
          <p:nvPr/>
        </p:nvSpPr>
        <p:spPr>
          <a:xfrm>
            <a:off x="201240" y="4160520"/>
            <a:ext cx="3748320" cy="22122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Rectangle 34"/>
          <p:cNvSpPr/>
          <p:nvPr/>
        </p:nvSpPr>
        <p:spPr>
          <a:xfrm>
            <a:off x="201240" y="4160520"/>
            <a:ext cx="3748320" cy="36000"/>
          </a:xfrm>
          <a:prstGeom prst="rect">
            <a:avLst/>
          </a:prstGeom>
          <a:solidFill>
            <a:srgbClr val="FFC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Rectangle 35"/>
          <p:cNvSpPr/>
          <p:nvPr/>
        </p:nvSpPr>
        <p:spPr>
          <a:xfrm>
            <a:off x="201240" y="4160520"/>
            <a:ext cx="36000" cy="2212200"/>
          </a:xfrm>
          <a:prstGeom prst="rect">
            <a:avLst/>
          </a:prstGeom>
          <a:solidFill>
            <a:srgbClr val="FFC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000" tIns="45000" rIns="18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Rectangle 36"/>
          <p:cNvSpPr/>
          <p:nvPr/>
        </p:nvSpPr>
        <p:spPr>
          <a:xfrm>
            <a:off x="292680" y="4251960"/>
            <a:ext cx="419760" cy="419760"/>
          </a:xfrm>
          <a:prstGeom prst="rect">
            <a:avLst/>
          </a:prstGeom>
          <a:solidFill>
            <a:srgbClr val="FFC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37"/>
          <p:cNvSpPr/>
          <p:nvPr/>
        </p:nvSpPr>
        <p:spPr>
          <a:xfrm>
            <a:off x="292680" y="425196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B0F1A"/>
                </a:solidFill>
                <a:effectLst/>
                <a:uFillTx/>
                <a:latin typeface="Calibri"/>
              </a:rPr>
              <a:t>M4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38"/>
          <p:cNvSpPr/>
          <p:nvPr/>
        </p:nvSpPr>
        <p:spPr>
          <a:xfrm>
            <a:off x="795600" y="423360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🔊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39"/>
          <p:cNvSpPr/>
          <p:nvPr/>
        </p:nvSpPr>
        <p:spPr>
          <a:xfrm>
            <a:off x="292680" y="4709160"/>
            <a:ext cx="35654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C700"/>
                </a:solidFill>
                <a:effectLst/>
                <a:uFillTx/>
                <a:latin typeface="Calibri"/>
              </a:rPr>
              <a:t>Text-to-Speech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40"/>
          <p:cNvSpPr/>
          <p:nvPr/>
        </p:nvSpPr>
        <p:spPr>
          <a:xfrm>
            <a:off x="292680" y="5038200"/>
            <a:ext cx="3565440" cy="12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Engine: Kokoro-82M ONNX (offline)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Voice: af_sarah · Speed: 1.6×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Output: WAV streamed via /tts endpoint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Browser fetches audio asynchronously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Graceful fallback if model unavailable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41"/>
          <p:cNvSpPr/>
          <p:nvPr/>
        </p:nvSpPr>
        <p:spPr>
          <a:xfrm>
            <a:off x="4187880" y="4160520"/>
            <a:ext cx="3748320" cy="22122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Rectangle 42"/>
          <p:cNvSpPr/>
          <p:nvPr/>
        </p:nvSpPr>
        <p:spPr>
          <a:xfrm>
            <a:off x="4187880" y="4160520"/>
            <a:ext cx="3748320" cy="3600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Rectangle 43"/>
          <p:cNvSpPr/>
          <p:nvPr/>
        </p:nvSpPr>
        <p:spPr>
          <a:xfrm>
            <a:off x="4187880" y="4160520"/>
            <a:ext cx="36000" cy="221220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000" tIns="45000" rIns="18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Rectangle 44"/>
          <p:cNvSpPr/>
          <p:nvPr/>
        </p:nvSpPr>
        <p:spPr>
          <a:xfrm>
            <a:off x="4279320" y="4251960"/>
            <a:ext cx="419760" cy="41976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45"/>
          <p:cNvSpPr/>
          <p:nvPr/>
        </p:nvSpPr>
        <p:spPr>
          <a:xfrm>
            <a:off x="4279320" y="425196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B0F1A"/>
                </a:solidFill>
                <a:effectLst/>
                <a:uFillTx/>
                <a:latin typeface="Calibri"/>
              </a:rPr>
              <a:t>M5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46"/>
          <p:cNvSpPr/>
          <p:nvPr/>
        </p:nvSpPr>
        <p:spPr>
          <a:xfrm>
            <a:off x="4782240" y="423360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🔐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47"/>
          <p:cNvSpPr/>
          <p:nvPr/>
        </p:nvSpPr>
        <p:spPr>
          <a:xfrm>
            <a:off x="4279320" y="4709160"/>
            <a:ext cx="35654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E5FF"/>
                </a:solidFill>
                <a:effectLst/>
                <a:uFillTx/>
                <a:latin typeface="Calibri"/>
              </a:rPr>
              <a:t>Auth &amp; Booking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48"/>
          <p:cNvSpPr/>
          <p:nvPr/>
        </p:nvSpPr>
        <p:spPr>
          <a:xfrm>
            <a:off x="4279320" y="5038200"/>
            <a:ext cx="3565440" cy="12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bcrypt password hashing (werkzeug)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SELECT FOR UPDATE row lock (no race cond.)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Single + multi-leg atomic transactions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Soft-delete cancel + seat restoration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Admin guard: before_request session check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49"/>
          <p:cNvSpPr/>
          <p:nvPr/>
        </p:nvSpPr>
        <p:spPr>
          <a:xfrm>
            <a:off x="8165520" y="4160520"/>
            <a:ext cx="3748320" cy="2212200"/>
          </a:xfrm>
          <a:prstGeom prst="rect">
            <a:avLst/>
          </a:prstGeom>
          <a:solidFill>
            <a:srgbClr val="182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Rectangle 50"/>
          <p:cNvSpPr/>
          <p:nvPr/>
        </p:nvSpPr>
        <p:spPr>
          <a:xfrm>
            <a:off x="8165520" y="4160520"/>
            <a:ext cx="3748320" cy="3600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Rectangle 51"/>
          <p:cNvSpPr/>
          <p:nvPr/>
        </p:nvSpPr>
        <p:spPr>
          <a:xfrm>
            <a:off x="8165520" y="4160520"/>
            <a:ext cx="36000" cy="221220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000" tIns="45000" rIns="18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Rectangle 52"/>
          <p:cNvSpPr/>
          <p:nvPr/>
        </p:nvSpPr>
        <p:spPr>
          <a:xfrm>
            <a:off x="8256960" y="4251960"/>
            <a:ext cx="419760" cy="419760"/>
          </a:xfrm>
          <a:prstGeom prst="rect">
            <a:avLst/>
          </a:prstGeom>
          <a:solidFill>
            <a:srgbClr val="A85C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53"/>
          <p:cNvSpPr/>
          <p:nvPr/>
        </p:nvSpPr>
        <p:spPr>
          <a:xfrm>
            <a:off x="8256960" y="4251960"/>
            <a:ext cx="419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B0F1A"/>
                </a:solidFill>
                <a:effectLst/>
                <a:uFillTx/>
                <a:latin typeface="Calibri"/>
              </a:rPr>
              <a:t>M6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54"/>
          <p:cNvSpPr/>
          <p:nvPr/>
        </p:nvSpPr>
        <p:spPr>
          <a:xfrm>
            <a:off x="8759880" y="4233600"/>
            <a:ext cx="502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🌐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55"/>
          <p:cNvSpPr/>
          <p:nvPr/>
        </p:nvSpPr>
        <p:spPr>
          <a:xfrm>
            <a:off x="8256960" y="4709160"/>
            <a:ext cx="35654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A85CFF"/>
                </a:solidFill>
                <a:effectLst/>
                <a:uFillTx/>
                <a:latin typeface="Calibri"/>
              </a:rPr>
              <a:t>Frontend &amp; PWA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56"/>
          <p:cNvSpPr/>
          <p:nvPr/>
        </p:nvSpPr>
        <p:spPr>
          <a:xfrm>
            <a:off x="8256960" y="5038200"/>
            <a:ext cx="3565440" cy="12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Vanilla HTML5/CSS3/JS — no framework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Service Worker: offline page caching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sessionStorage: back-nav result cache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7 responsive templates (Jinja2)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8EAA"/>
                </a:solidFill>
                <a:effectLst/>
                <a:uFillTx/>
                <a:latin typeface="Calibri"/>
              </a:rPr>
              <a:t>• PWA manifest + installable to homescreen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2026-07-29T19:30:33Z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